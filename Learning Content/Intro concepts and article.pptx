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323" r:id="rId4"/>
    <p:sldId id="348" r:id="rId5"/>
    <p:sldId id="324" r:id="rId6"/>
    <p:sldId id="325" r:id="rId7"/>
    <p:sldId id="259" r:id="rId8"/>
    <p:sldId id="337" r:id="rId9"/>
    <p:sldId id="349" r:id="rId10"/>
    <p:sldId id="338" r:id="rId11"/>
    <p:sldId id="346" r:id="rId12"/>
    <p:sldId id="339" r:id="rId13"/>
    <p:sldId id="351" r:id="rId14"/>
    <p:sldId id="340" r:id="rId15"/>
    <p:sldId id="342" r:id="rId16"/>
    <p:sldId id="353" r:id="rId17"/>
    <p:sldId id="347" r:id="rId18"/>
    <p:sldId id="344" r:id="rId19"/>
    <p:sldId id="354" r:id="rId20"/>
    <p:sldId id="345" r:id="rId21"/>
    <p:sldId id="35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1AF3C53-DC3C-E686-74FA-2CFB658D31E7}" name="Sadia Afrin" initials="SA" userId="03092ee452db20a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4"/>
  </p:normalViewPr>
  <p:slideViewPr>
    <p:cSldViewPr snapToGrid="0">
      <p:cViewPr varScale="1">
        <p:scale>
          <a:sx n="106" d="100"/>
          <a:sy n="106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77215-38CF-DE4C-BF1D-23D861E91000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6977B-5604-BF4F-98C2-EA4F50F84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525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6977B-5604-BF4F-98C2-EA4F50F84BC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22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01B22-95C5-377B-D2E0-7B3F908BE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D6D14-52B5-B53D-707E-A371706B6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9ED2B-1DA1-64D6-E624-4C0EB2AA5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9BF95-B7F5-BCBB-E4AA-3E84682F8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6977B-5604-BF4F-98C2-EA4F50F84BC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0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F9292-7B47-1D51-1016-B5CD9F42E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125C3-74ED-2D44-9CE7-78B602D16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AABE0E-F6CA-F109-B652-BBCEC2F13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11F3A-E2A3-DEB8-1D14-0C4F54019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6977B-5604-BF4F-98C2-EA4F50F84BC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98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CE26A-3D18-4551-45F0-3810B65AF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41089-05D0-BFC0-BC5B-13434EF5A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05971-22C8-A683-1980-366D74823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455B6-B520-BB71-F2E0-5E594EDAB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6977B-5604-BF4F-98C2-EA4F50F84BC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9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44BBC-B5F5-B189-4010-9C576F100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C133D-41A2-6785-22F9-817AF5DB4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58F9EA-2343-9D89-57C0-3D0A28965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EA999-06BF-E2D2-F2AF-D2BC07D34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6977B-5604-BF4F-98C2-EA4F50F84BC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27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CE327-EFC3-23CF-C29A-B326B47D5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A9E06-A4B3-A5CC-533B-B70C7F1B1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FE3F9-BFFC-C5A3-732C-F3404D9B7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D22CE-69BB-D205-3CE1-421BE8EB9C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6977B-5604-BF4F-98C2-EA4F50F84BC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1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6347E13-D0B7-6240-8859-AC871BE94589}" type="datetime1">
              <a:rPr lang="en-US" smtClean="0"/>
              <a:t>10/17/26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87632-AD22-514E-AAB5-3F63CA8030A6}" type="datetime1">
              <a:rPr lang="en-US" smtClean="0"/>
              <a:t>10/17/26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659DB4-8C2F-514B-9EC5-82DBF43BCBEF}" type="datetime1">
              <a:rPr lang="en-US" smtClean="0"/>
              <a:t>10/17/26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9755-A2A2-6D40-A44F-BA43A3FDBE73}" type="datetime1">
              <a:rPr lang="en-US" smtClean="0"/>
              <a:t>10/17/26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B917-9282-8D41-BA7C-327F6CEB40EB}" type="datetime1">
              <a:rPr lang="en-US" smtClean="0"/>
              <a:t>10/17/26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4B2E3-8BAD-FD46-83EA-9C0814F234F4}" type="datetime1">
              <a:rPr lang="en-US" smtClean="0"/>
              <a:t>10/17/26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44B6-FA2B-F94A-A39A-1B6DDA1A186D}" type="datetime1">
              <a:rPr lang="en-US" smtClean="0"/>
              <a:t>10/17/26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5A06D3D-F626-A54B-80B4-9C8037D86CBD}" type="datetime1">
              <a:rPr lang="en-US" smtClean="0"/>
              <a:t>10/17/26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717AC15-1899-1943-88DB-80592CF2651C}" type="datetime1">
              <a:rPr lang="en-US" smtClean="0"/>
              <a:t>10/17/26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16EE-3AFE-4340-84D0-EADBA79A0726}" type="datetime1">
              <a:rPr lang="en-US" smtClean="0"/>
              <a:t>10/17/26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34006-547E-A944-98B2-A9595CDCCE8E}" type="datetime1">
              <a:rPr lang="en-US" smtClean="0"/>
              <a:t>10/17/26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330065D-64F6-4E40-A4EC-4735B773362C}" type="datetime1">
              <a:rPr lang="en-US" smtClean="0"/>
              <a:t>10/17/26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075E8-5094-903A-5C0D-955A138D97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Exploring the Landscape of Fairness Interventions in 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923AE-C591-301A-2BD2-C0F807DD46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FB758-82A1-40FB-786B-9A1EDAEB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89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0103B-12AC-FAA2-464F-850B4B38A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                             Introduction</a:t>
            </a:r>
          </a:p>
        </p:txBody>
      </p:sp>
      <p:pic>
        <p:nvPicPr>
          <p:cNvPr id="5" name="Content Placeholder 4" descr="A group of people working on a robot&#10;&#10;Description automatically generated">
            <a:extLst>
              <a:ext uri="{FF2B5EF4-FFF2-40B4-BE49-F238E27FC236}">
                <a16:creationId xmlns:a16="http://schemas.microsoft.com/office/drawing/2014/main" id="{D80864D0-422A-CAA9-C15D-AD0FD71816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6919" y="1624262"/>
            <a:ext cx="5375275" cy="318611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22FC03-9F24-5AD6-9BC0-E310DDCA2188}"/>
              </a:ext>
            </a:extLst>
          </p:cNvPr>
          <p:cNvSpPr txBox="1"/>
          <p:nvPr/>
        </p:nvSpPr>
        <p:spPr>
          <a:xfrm>
            <a:off x="1371600" y="1645712"/>
            <a:ext cx="525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 is being integrated in various applications through Software Systems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Reduces human effort &amp; achieve faster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E830DA-E2D9-6944-95E6-695ACC58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799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C9BF1-5A03-DF0B-FD4F-CC42B9EB1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0F7C-DAD3-6F43-8CAC-E3220BAC1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     </a:t>
            </a:r>
            <a:r>
              <a:rPr lang="en-US" sz="3600" dirty="0"/>
              <a:t>Background: Bias in AI-Driven Software Systems</a:t>
            </a:r>
          </a:p>
        </p:txBody>
      </p:sp>
      <p:pic>
        <p:nvPicPr>
          <p:cNvPr id="5" name="Content Placeholder 4" descr="A close up of a person's face&#10;&#10;Description automatically generated">
            <a:extLst>
              <a:ext uri="{FF2B5EF4-FFF2-40B4-BE49-F238E27FC236}">
                <a16:creationId xmlns:a16="http://schemas.microsoft.com/office/drawing/2014/main" id="{C471C727-8782-6EB5-5084-BE2AA5413D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531" y="1779948"/>
            <a:ext cx="4966101" cy="2641075"/>
          </a:xfrm>
        </p:spPr>
      </p:pic>
      <p:pic>
        <p:nvPicPr>
          <p:cNvPr id="7" name="Picture 6" descr="A screenshot of a white text&#10;&#10;Description automatically generated">
            <a:extLst>
              <a:ext uri="{FF2B5EF4-FFF2-40B4-BE49-F238E27FC236}">
                <a16:creationId xmlns:a16="http://schemas.microsoft.com/office/drawing/2014/main" id="{BD5A7B0C-82B8-6A15-B485-511D79595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78" y="1831807"/>
            <a:ext cx="4966101" cy="2641075"/>
          </a:xfrm>
          <a:prstGeom prst="rect">
            <a:avLst/>
          </a:prstGeom>
        </p:spPr>
      </p:pic>
      <p:pic>
        <p:nvPicPr>
          <p:cNvPr id="11" name="Picture 10" descr="A blue background with white text&#10;&#10;Description automatically generated">
            <a:extLst>
              <a:ext uri="{FF2B5EF4-FFF2-40B4-BE49-F238E27FC236}">
                <a16:creationId xmlns:a16="http://schemas.microsoft.com/office/drawing/2014/main" id="{D84D71A9-FC26-4873-7BAB-14CFE06C0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278" y="4629376"/>
            <a:ext cx="8815928" cy="182401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0400E8-F248-A4CF-93FB-F876D4D7B8AD}"/>
              </a:ext>
            </a:extLst>
          </p:cNvPr>
          <p:cNvSpPr/>
          <p:nvPr/>
        </p:nvSpPr>
        <p:spPr>
          <a:xfrm flipV="1">
            <a:off x="2999071" y="2171459"/>
            <a:ext cx="8510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6E2B6-1473-F51E-F359-946460A70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95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E2F59-E6CD-84A7-300A-E0A403D8E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         Background:  Fairness VS Ethics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2D6CC-3AB0-9C22-4D4A-9154EBBC3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pic>
        <p:nvPicPr>
          <p:cNvPr id="10" name="Content Placeholder 9" descr="A diagram of ethics with arrows pointing to the word ethics&#10;&#10;Description automatically generated">
            <a:extLst>
              <a:ext uri="{FF2B5EF4-FFF2-40B4-BE49-F238E27FC236}">
                <a16:creationId xmlns:a16="http://schemas.microsoft.com/office/drawing/2014/main" id="{776F818B-4F9A-CC73-C41F-6C52368517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8827" y="1859470"/>
            <a:ext cx="4259095" cy="358140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2E961B-BC27-5123-315F-3A33C8328CD7}"/>
              </a:ext>
            </a:extLst>
          </p:cNvPr>
          <p:cNvSpPr txBox="1"/>
          <p:nvPr/>
        </p:nvSpPr>
        <p:spPr>
          <a:xfrm>
            <a:off x="1371600" y="1871662"/>
            <a:ext cx="59721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255CC4-4833-4022-3DE9-56BD0E512509}"/>
              </a:ext>
            </a:extLst>
          </p:cNvPr>
          <p:cNvSpPr/>
          <p:nvPr/>
        </p:nvSpPr>
        <p:spPr>
          <a:xfrm>
            <a:off x="1071563" y="1628774"/>
            <a:ext cx="6657264" cy="1485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Ethics involves broader moral principles about what is right or wrong.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Focus:</a:t>
            </a:r>
            <a:r>
              <a:rPr lang="en-US" dirty="0"/>
              <a:t> Morality, responsibility, and the societal impact of decisions or actions.</a:t>
            </a:r>
          </a:p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DE3B78-C785-FAAC-B27D-7F75942D1270}"/>
              </a:ext>
            </a:extLst>
          </p:cNvPr>
          <p:cNvSpPr/>
          <p:nvPr/>
        </p:nvSpPr>
        <p:spPr>
          <a:xfrm>
            <a:off x="1071563" y="4057647"/>
            <a:ext cx="6657264" cy="16261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Fairness refers to treating all individuals or groups equitably and do not disadvantage people based on sensitive attribute (e.g., race, gender, age)</a:t>
            </a:r>
          </a:p>
          <a:p>
            <a:endParaRPr lang="en-US" dirty="0"/>
          </a:p>
          <a:p>
            <a:r>
              <a:rPr lang="en-US" b="1" dirty="0"/>
              <a:t>Focus:</a:t>
            </a:r>
            <a:r>
              <a:rPr lang="en-US" dirty="0"/>
              <a:t> Procedural or outcome-based equality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706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C570F-EA5E-8558-BF23-E7FB4FDB6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214812" cy="1010653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 </a:t>
            </a:r>
            <a:r>
              <a:rPr lang="en-US" sz="3600" dirty="0"/>
              <a:t>Background: Fairness Principles in AI-Driven Software</a:t>
            </a:r>
          </a:p>
        </p:txBody>
      </p:sp>
      <p:pic>
        <p:nvPicPr>
          <p:cNvPr id="5" name="Content Placeholder 4" descr="A diagram of a diagram of a company&#10;&#10;Description automatically generated with medium confidence">
            <a:extLst>
              <a:ext uri="{FF2B5EF4-FFF2-40B4-BE49-F238E27FC236}">
                <a16:creationId xmlns:a16="http://schemas.microsoft.com/office/drawing/2014/main" id="{15D80CF5-785E-A522-0795-C9D04655F4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2664" y="2316078"/>
            <a:ext cx="7806672" cy="407898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9C9F7D-6153-6E0B-A89D-530C521BB55F}"/>
              </a:ext>
            </a:extLst>
          </p:cNvPr>
          <p:cNvSpPr txBox="1"/>
          <p:nvPr/>
        </p:nvSpPr>
        <p:spPr>
          <a:xfrm>
            <a:off x="2382253" y="1503947"/>
            <a:ext cx="6068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   Software Fairness is analogous to Software Quality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426D9-B14E-7BAC-6393-637FAB909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511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05FC6-FE0C-1ECE-14B6-3D1F200B1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28688"/>
          </a:xfrm>
        </p:spPr>
        <p:txBody>
          <a:bodyPr>
            <a:normAutofit/>
          </a:bodyPr>
          <a:lstStyle/>
          <a:p>
            <a:r>
              <a:rPr lang="en-US" sz="3600" dirty="0"/>
              <a:t>Background: Open Source Fairness Tools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24636E-7662-D558-9AC8-784F80F8BD7B}"/>
              </a:ext>
            </a:extLst>
          </p:cNvPr>
          <p:cNvSpPr txBox="1"/>
          <p:nvPr/>
        </p:nvSpPr>
        <p:spPr>
          <a:xfrm>
            <a:off x="1628773" y="2446557"/>
            <a:ext cx="3486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Efforts have been found around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Industrial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Academic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Individual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675D04-2110-107C-27DE-DB344BB2B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  <p:pic>
        <p:nvPicPr>
          <p:cNvPr id="9" name="Content Placeholder 8" descr="A pie chart with numbers and text&#10;&#10;Description automatically generated">
            <a:extLst>
              <a:ext uri="{FF2B5EF4-FFF2-40B4-BE49-F238E27FC236}">
                <a16:creationId xmlns:a16="http://schemas.microsoft.com/office/drawing/2014/main" id="{738404B4-8564-FF48-247E-E9DBD0BB70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58109" y="2043111"/>
            <a:ext cx="4170123" cy="358140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0AEA87-BADB-AA2B-2807-D2A8214FEE7A}"/>
              </a:ext>
            </a:extLst>
          </p:cNvPr>
          <p:cNvSpPr txBox="1"/>
          <p:nvPr/>
        </p:nvSpPr>
        <p:spPr>
          <a:xfrm>
            <a:off x="1371600" y="1800225"/>
            <a:ext cx="5815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Software solution to help practitioners to detect &amp; mitigate bias in their model through systematic approach</a:t>
            </a:r>
          </a:p>
        </p:txBody>
      </p:sp>
    </p:spTree>
    <p:extLst>
      <p:ext uri="{BB962C8B-B14F-4D97-AF65-F5344CB8AC3E}">
        <p14:creationId xmlns:p14="http://schemas.microsoft.com/office/powerpoint/2010/main" val="196499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BA368-35DB-6D25-44A7-07D7A6F9A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0984"/>
            <a:ext cx="9095874" cy="729616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Taxonomy of Existing Literature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000D84-278B-222D-02AD-48BE296648BF}"/>
              </a:ext>
            </a:extLst>
          </p:cNvPr>
          <p:cNvSpPr/>
          <p:nvPr/>
        </p:nvSpPr>
        <p:spPr>
          <a:xfrm>
            <a:off x="5293511" y="1467853"/>
            <a:ext cx="2921795" cy="57751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Related Literature to Ethics &amp; Fairness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E2E22A-8063-C307-67FD-49E9A5E43F23}"/>
              </a:ext>
            </a:extLst>
          </p:cNvPr>
          <p:cNvCxnSpPr>
            <a:cxnSpLocks/>
          </p:cNvCxnSpPr>
          <p:nvPr/>
        </p:nvCxnSpPr>
        <p:spPr>
          <a:xfrm>
            <a:off x="6586538" y="2045368"/>
            <a:ext cx="0" cy="477253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2E026A-EDA7-37E3-8230-18911B40C358}"/>
              </a:ext>
            </a:extLst>
          </p:cNvPr>
          <p:cNvCxnSpPr>
            <a:cxnSpLocks/>
          </p:cNvCxnSpPr>
          <p:nvPr/>
        </p:nvCxnSpPr>
        <p:spPr>
          <a:xfrm>
            <a:off x="2986088" y="2522621"/>
            <a:ext cx="7772400" cy="0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267CD6-20AF-0F19-BFB1-42B4E1987B6F}"/>
              </a:ext>
            </a:extLst>
          </p:cNvPr>
          <p:cNvCxnSpPr>
            <a:cxnSpLocks/>
          </p:cNvCxnSpPr>
          <p:nvPr/>
        </p:nvCxnSpPr>
        <p:spPr>
          <a:xfrm>
            <a:off x="2986088" y="2522621"/>
            <a:ext cx="0" cy="620628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39B126C2-5C22-FCE2-FA35-E7A44BCC51BC}"/>
              </a:ext>
            </a:extLst>
          </p:cNvPr>
          <p:cNvSpPr/>
          <p:nvPr/>
        </p:nvSpPr>
        <p:spPr>
          <a:xfrm>
            <a:off x="1785934" y="3143250"/>
            <a:ext cx="3014659" cy="728664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Ethics &amp; Fairness in Software Systems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C5E3F17-D161-6026-3BEF-9CD06288F0E2}"/>
              </a:ext>
            </a:extLst>
          </p:cNvPr>
          <p:cNvSpPr/>
          <p:nvPr/>
        </p:nvSpPr>
        <p:spPr>
          <a:xfrm>
            <a:off x="5293511" y="3143249"/>
            <a:ext cx="2614613" cy="72866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Ethics &amp; Fairness in AI driven Software System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BACC1F9-C62D-6CEB-8D4F-3C9ADE300383}"/>
              </a:ext>
            </a:extLst>
          </p:cNvPr>
          <p:cNvCxnSpPr>
            <a:cxnSpLocks/>
          </p:cNvCxnSpPr>
          <p:nvPr/>
        </p:nvCxnSpPr>
        <p:spPr>
          <a:xfrm>
            <a:off x="6586538" y="2522621"/>
            <a:ext cx="0" cy="620627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B9CC15CA-8241-F27C-816F-394A07C8A6E9}"/>
              </a:ext>
            </a:extLst>
          </p:cNvPr>
          <p:cNvSpPr/>
          <p:nvPr/>
        </p:nvSpPr>
        <p:spPr>
          <a:xfrm>
            <a:off x="8834441" y="3143248"/>
            <a:ext cx="2724144" cy="72866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Conducted User Studies for Fair Software System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BB54BD4-40CA-4ABA-0DD3-AEA49249EA35}"/>
              </a:ext>
            </a:extLst>
          </p:cNvPr>
          <p:cNvCxnSpPr>
            <a:cxnSpLocks/>
          </p:cNvCxnSpPr>
          <p:nvPr/>
        </p:nvCxnSpPr>
        <p:spPr>
          <a:xfrm>
            <a:off x="10758488" y="2522621"/>
            <a:ext cx="0" cy="620627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4BA3CA4-6233-CE63-3812-CD96FD6F6BE3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3293264" y="3871914"/>
            <a:ext cx="0" cy="700086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1E49FC8-CBF8-19C5-7E51-5E680A4C0F3D}"/>
              </a:ext>
            </a:extLst>
          </p:cNvPr>
          <p:cNvCxnSpPr>
            <a:cxnSpLocks/>
          </p:cNvCxnSpPr>
          <p:nvPr/>
        </p:nvCxnSpPr>
        <p:spPr>
          <a:xfrm>
            <a:off x="1900238" y="4572000"/>
            <a:ext cx="2614612" cy="0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5255EF48-199D-C61F-7FD3-27EBD087AD56}"/>
              </a:ext>
            </a:extLst>
          </p:cNvPr>
          <p:cNvCxnSpPr>
            <a:cxnSpLocks/>
          </p:cNvCxnSpPr>
          <p:nvPr/>
        </p:nvCxnSpPr>
        <p:spPr>
          <a:xfrm>
            <a:off x="1900238" y="4572000"/>
            <a:ext cx="1" cy="757237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D7841571-666A-B0A6-9234-F0C244C81505}"/>
              </a:ext>
            </a:extLst>
          </p:cNvPr>
          <p:cNvSpPr/>
          <p:nvPr/>
        </p:nvSpPr>
        <p:spPr>
          <a:xfrm>
            <a:off x="871550" y="5329238"/>
            <a:ext cx="1871638" cy="132872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Practice &amp; Ignorance in Ethical Software Engineering</a:t>
            </a:r>
          </a:p>
          <a:p>
            <a:pPr algn="ctr"/>
            <a:endParaRPr lang="en-US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C6C8D04-55F9-F0B1-E595-8CF52897845A}"/>
              </a:ext>
            </a:extLst>
          </p:cNvPr>
          <p:cNvSpPr/>
          <p:nvPr/>
        </p:nvSpPr>
        <p:spPr>
          <a:xfrm>
            <a:off x="3226701" y="5341152"/>
            <a:ext cx="1601748" cy="13048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 for Ethical Software Systems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2E18F16E-AD01-4A92-9588-BF86BC6DEDDC}"/>
              </a:ext>
            </a:extLst>
          </p:cNvPr>
          <p:cNvCxnSpPr>
            <a:cxnSpLocks/>
          </p:cNvCxnSpPr>
          <p:nvPr/>
        </p:nvCxnSpPr>
        <p:spPr>
          <a:xfrm>
            <a:off x="4514850" y="4572000"/>
            <a:ext cx="0" cy="781051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EF70420-FD24-73F0-7D0E-20FF888CAACC}"/>
              </a:ext>
            </a:extLst>
          </p:cNvPr>
          <p:cNvSpPr/>
          <p:nvPr/>
        </p:nvSpPr>
        <p:spPr>
          <a:xfrm>
            <a:off x="5036338" y="5372073"/>
            <a:ext cx="1550200" cy="1267779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Fairness Principles in AI-Driven Software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CD11933-8961-EF79-F458-B62D9A406A11}"/>
              </a:ext>
            </a:extLst>
          </p:cNvPr>
          <p:cNvSpPr/>
          <p:nvPr/>
        </p:nvSpPr>
        <p:spPr>
          <a:xfrm>
            <a:off x="6827159" y="5359710"/>
            <a:ext cx="1550200" cy="126777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 for AI Fairness in Software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96D4797-FF26-B790-9046-FAB377D03A7B}"/>
              </a:ext>
            </a:extLst>
          </p:cNvPr>
          <p:cNvSpPr/>
          <p:nvPr/>
        </p:nvSpPr>
        <p:spPr>
          <a:xfrm>
            <a:off x="8702982" y="5329237"/>
            <a:ext cx="1550200" cy="126777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study on Fairness Guidelines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5B7525A-6137-D744-7F4B-EFF7F02FFB14}"/>
              </a:ext>
            </a:extLst>
          </p:cNvPr>
          <p:cNvSpPr/>
          <p:nvPr/>
        </p:nvSpPr>
        <p:spPr>
          <a:xfrm>
            <a:off x="10545351" y="5338233"/>
            <a:ext cx="1550200" cy="1267779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User study on Fairness  Tools</a:t>
            </a:r>
          </a:p>
          <a:p>
            <a:pPr algn="ctr"/>
            <a:endParaRPr lang="en-US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6F7416D-5D2F-BDBB-B591-9DCF2EBFA019}"/>
              </a:ext>
            </a:extLst>
          </p:cNvPr>
          <p:cNvCxnSpPr>
            <a:cxnSpLocks/>
          </p:cNvCxnSpPr>
          <p:nvPr/>
        </p:nvCxnSpPr>
        <p:spPr>
          <a:xfrm flipV="1">
            <a:off x="5371986" y="4581525"/>
            <a:ext cx="2521858" cy="33311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B01B7EE3-0C0E-8AD4-DBB8-F8FE55515BA9}"/>
              </a:ext>
            </a:extLst>
          </p:cNvPr>
          <p:cNvCxnSpPr>
            <a:cxnSpLocks/>
          </p:cNvCxnSpPr>
          <p:nvPr/>
        </p:nvCxnSpPr>
        <p:spPr>
          <a:xfrm>
            <a:off x="5371986" y="4614836"/>
            <a:ext cx="1" cy="757237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E26E321-711D-62D0-8DB6-8DD4B1609D63}"/>
              </a:ext>
            </a:extLst>
          </p:cNvPr>
          <p:cNvCxnSpPr>
            <a:cxnSpLocks/>
          </p:cNvCxnSpPr>
          <p:nvPr/>
        </p:nvCxnSpPr>
        <p:spPr>
          <a:xfrm>
            <a:off x="7893844" y="4572000"/>
            <a:ext cx="0" cy="823887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DA3ADB72-92A9-BDA7-8ADE-B5C31F06EEFF}"/>
              </a:ext>
            </a:extLst>
          </p:cNvPr>
          <p:cNvCxnSpPr>
            <a:cxnSpLocks/>
          </p:cNvCxnSpPr>
          <p:nvPr/>
        </p:nvCxnSpPr>
        <p:spPr>
          <a:xfrm>
            <a:off x="6632915" y="3871914"/>
            <a:ext cx="0" cy="700086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4DA4DE6-2912-9723-D509-98B9C6D4E4EC}"/>
              </a:ext>
            </a:extLst>
          </p:cNvPr>
          <p:cNvCxnSpPr>
            <a:cxnSpLocks/>
          </p:cNvCxnSpPr>
          <p:nvPr/>
        </p:nvCxnSpPr>
        <p:spPr>
          <a:xfrm>
            <a:off x="9472736" y="4595814"/>
            <a:ext cx="1971552" cy="2366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538C53E-2342-0E40-1468-45FECFBEFE19}"/>
              </a:ext>
            </a:extLst>
          </p:cNvPr>
          <p:cNvCxnSpPr>
            <a:cxnSpLocks/>
          </p:cNvCxnSpPr>
          <p:nvPr/>
        </p:nvCxnSpPr>
        <p:spPr>
          <a:xfrm>
            <a:off x="9472736" y="4595814"/>
            <a:ext cx="0" cy="781036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A9ADB2B4-1868-59AB-0374-F008F36E7026}"/>
              </a:ext>
            </a:extLst>
          </p:cNvPr>
          <p:cNvCxnSpPr>
            <a:cxnSpLocks/>
          </p:cNvCxnSpPr>
          <p:nvPr/>
        </p:nvCxnSpPr>
        <p:spPr>
          <a:xfrm>
            <a:off x="11429636" y="4595814"/>
            <a:ext cx="1" cy="757237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2C3C1351-D641-1B7D-F31A-9457BA78C016}"/>
              </a:ext>
            </a:extLst>
          </p:cNvPr>
          <p:cNvCxnSpPr>
            <a:cxnSpLocks/>
          </p:cNvCxnSpPr>
          <p:nvPr/>
        </p:nvCxnSpPr>
        <p:spPr>
          <a:xfrm>
            <a:off x="10280509" y="3881439"/>
            <a:ext cx="0" cy="700086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F03286-AF0D-B1CA-CC13-42AE0413C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5A91C3C9-EB87-C09B-B364-05837DF2A9D3}"/>
              </a:ext>
            </a:extLst>
          </p:cNvPr>
          <p:cNvSpPr/>
          <p:nvPr/>
        </p:nvSpPr>
        <p:spPr>
          <a:xfrm>
            <a:off x="2097259" y="2104842"/>
            <a:ext cx="484632" cy="9784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50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3ADF8-AD27-83BC-7C56-EA523120E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0235-9F9F-EC37-350B-9A49EB920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62182"/>
            <a:ext cx="9601200" cy="1077860"/>
          </a:xfrm>
        </p:spPr>
        <p:txBody>
          <a:bodyPr>
            <a:noAutofit/>
          </a:bodyPr>
          <a:lstStyle/>
          <a:p>
            <a:r>
              <a:rPr lang="en-US" sz="3600" dirty="0"/>
              <a:t>          Practice of Fairness &amp; Ethics in Software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E4E3CF-01C4-EA47-52FA-038BA59AC43A}"/>
              </a:ext>
            </a:extLst>
          </p:cNvPr>
          <p:cNvSpPr/>
          <p:nvPr/>
        </p:nvSpPr>
        <p:spPr>
          <a:xfrm>
            <a:off x="920415" y="5293460"/>
            <a:ext cx="11265568" cy="12633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[1] D. Damian, K. </a:t>
            </a:r>
            <a:r>
              <a:rPr lang="en-US" sz="1000" dirty="0" err="1"/>
              <a:t>Blincoe</a:t>
            </a:r>
            <a:r>
              <a:rPr lang="en-US" sz="1000" dirty="0"/>
              <a:t>, D. Ford, A. </a:t>
            </a:r>
            <a:r>
              <a:rPr lang="en-US" sz="1000" dirty="0" err="1"/>
              <a:t>Serebrenik</a:t>
            </a:r>
            <a:r>
              <a:rPr lang="en-US" sz="1000" dirty="0"/>
              <a:t>, and Z. Masood, </a:t>
            </a:r>
            <a:r>
              <a:rPr lang="en-US" sz="1000" dirty="0" err="1"/>
              <a:t>Equity,Diversity</a:t>
            </a:r>
            <a:r>
              <a:rPr lang="en-US" sz="1000" dirty="0"/>
              <a:t>, and Inclusion in Software Engineering: Best Practices </a:t>
            </a:r>
            <a:r>
              <a:rPr lang="en-US" sz="1000" dirty="0" err="1"/>
              <a:t>andInsights</a:t>
            </a:r>
            <a:r>
              <a:rPr lang="en-US" sz="1000" dirty="0"/>
              <a:t>. Springer Nature, 2024.</a:t>
            </a:r>
          </a:p>
          <a:p>
            <a:r>
              <a:rPr lang="en-US" sz="1000" dirty="0"/>
              <a:t>[2] Y. Brun and A. </a:t>
            </a:r>
            <a:r>
              <a:rPr lang="en-US" sz="1000" dirty="0" err="1"/>
              <a:t>Meliou</a:t>
            </a:r>
            <a:r>
              <a:rPr lang="en-US" sz="1000" dirty="0"/>
              <a:t>, “Software fairness,” in Proceedings of the 201826th ACM joint meeting on </a:t>
            </a:r>
            <a:r>
              <a:rPr lang="en-US" sz="1000" dirty="0" err="1"/>
              <a:t>european</a:t>
            </a:r>
            <a:r>
              <a:rPr lang="en-US" sz="1000" dirty="0"/>
              <a:t> software engineering </a:t>
            </a:r>
            <a:r>
              <a:rPr lang="en-US" sz="1000" dirty="0" err="1"/>
              <a:t>conferenceand</a:t>
            </a:r>
            <a:r>
              <a:rPr lang="en-US" sz="1000" dirty="0"/>
              <a:t> symposium on the foundations of software engineering, pp. 754–759, 2018.</a:t>
            </a:r>
          </a:p>
          <a:p>
            <a:r>
              <a:rPr lang="en-US" sz="1000" dirty="0"/>
              <a:t>[3] B. Johnson and J. Smith, “Towards ethical data-driven software: </a:t>
            </a:r>
            <a:r>
              <a:rPr lang="en-US" sz="1000" dirty="0" err="1"/>
              <a:t>fillingthe</a:t>
            </a:r>
            <a:r>
              <a:rPr lang="en-US" sz="1000" dirty="0"/>
              <a:t> gaps in ethics research &amp; practice,” in 2021 IEEE/ACM 2</a:t>
            </a:r>
            <a:r>
              <a:rPr lang="en-US" sz="1000" baseline="30000" dirty="0"/>
              <a:t>nd</a:t>
            </a:r>
            <a:r>
              <a:rPr lang="en-US" sz="1000" dirty="0"/>
              <a:t> International Workshop on Ethics in Software Engineering Research </a:t>
            </a:r>
            <a:r>
              <a:rPr lang="en-US" sz="1000" dirty="0" err="1"/>
              <a:t>andPractice</a:t>
            </a:r>
            <a:r>
              <a:rPr lang="en-US" sz="1000" dirty="0"/>
              <a:t> (</a:t>
            </a:r>
            <a:r>
              <a:rPr lang="en-US" sz="1000" dirty="0" err="1"/>
              <a:t>SEthics</a:t>
            </a:r>
            <a:r>
              <a:rPr lang="en-US" sz="1000" dirty="0"/>
              <a:t>), pp. 18–25, IEEE, 2021.</a:t>
            </a:r>
          </a:p>
          <a:p>
            <a:r>
              <a:rPr lang="en-US" sz="1000" dirty="0"/>
              <a:t>[4] J. M. Zhang and M. Harman, “” ignorance and prejudice” in software fairness,” in 2021 IEEE/ACM 43rd International Conference on </a:t>
            </a:r>
            <a:r>
              <a:rPr lang="en-US" sz="1000" dirty="0" err="1"/>
              <a:t>SoftwareEngineering</a:t>
            </a:r>
            <a:r>
              <a:rPr lang="en-US" sz="1000" dirty="0"/>
              <a:t> (ICSE), pp. 1436–1447, IEEE, 2021.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E5CFA9-E340-7978-6014-A837C093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8</a:t>
            </a:fld>
            <a:endParaRPr lang="en-US" dirty="0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83E71507-4AE0-D2CB-A1DF-4B1814CBCACF}"/>
              </a:ext>
            </a:extLst>
          </p:cNvPr>
          <p:cNvSpPr/>
          <p:nvPr/>
        </p:nvSpPr>
        <p:spPr>
          <a:xfrm>
            <a:off x="920415" y="1154583"/>
            <a:ext cx="3340768" cy="1467852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Promotes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DEI in software engineering practices</a:t>
            </a:r>
            <a:r>
              <a:rPr lang="en-US" sz="1200" dirty="0"/>
              <a:t>, addressing challenges and solutions for minority groups within the IT industry[1].</a:t>
            </a:r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71FF2015-6783-5650-A772-9E5ABF99AE5E}"/>
              </a:ext>
            </a:extLst>
          </p:cNvPr>
          <p:cNvSpPr/>
          <p:nvPr/>
        </p:nvSpPr>
        <p:spPr>
          <a:xfrm>
            <a:off x="2215574" y="2932613"/>
            <a:ext cx="3204894" cy="1985210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Vision for software engineering research to promote fairness by addressing </a:t>
            </a:r>
            <a:r>
              <a:rPr lang="en-US" sz="1400" b="1" dirty="0">
                <a:solidFill>
                  <a:schemeClr val="tx1"/>
                </a:solidFill>
              </a:rPr>
              <a:t>ethical issues</a:t>
            </a:r>
            <a:r>
              <a:rPr lang="en-US" sz="1400" b="1" dirty="0"/>
              <a:t>, </a:t>
            </a:r>
            <a:r>
              <a:rPr lang="en-US" sz="1200" b="1" dirty="0"/>
              <a:t>throughout various </a:t>
            </a:r>
            <a:r>
              <a:rPr lang="en-US" sz="1400" b="1" dirty="0">
                <a:solidFill>
                  <a:schemeClr val="tx1"/>
                </a:solidFill>
              </a:rPr>
              <a:t>phases of software developmen</a:t>
            </a:r>
            <a:r>
              <a:rPr lang="en-US" sz="1200" dirty="0">
                <a:solidFill>
                  <a:schemeClr val="tx1"/>
                </a:solidFill>
              </a:rPr>
              <a:t>t</a:t>
            </a:r>
            <a:r>
              <a:rPr lang="en-US" sz="1200" dirty="0"/>
              <a:t>[2].</a:t>
            </a:r>
          </a:p>
        </p:txBody>
      </p:sp>
      <p:sp>
        <p:nvSpPr>
          <p:cNvPr id="11" name="Cloud 10">
            <a:extLst>
              <a:ext uri="{FF2B5EF4-FFF2-40B4-BE49-F238E27FC236}">
                <a16:creationId xmlns:a16="http://schemas.microsoft.com/office/drawing/2014/main" id="{2DEC7089-1BFB-5B71-6351-5864D2B2BF22}"/>
              </a:ext>
            </a:extLst>
          </p:cNvPr>
          <p:cNvSpPr/>
          <p:nvPr/>
        </p:nvSpPr>
        <p:spPr>
          <a:xfrm>
            <a:off x="5169087" y="1399524"/>
            <a:ext cx="3036129" cy="1762193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 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Highlights the ethical aspects in</a:t>
            </a:r>
            <a:r>
              <a:rPr lang="en-US" sz="1400" b="1" dirty="0"/>
              <a:t> </a:t>
            </a:r>
            <a:r>
              <a:rPr lang="en-US" sz="1400" b="1" dirty="0">
                <a:solidFill>
                  <a:schemeClr val="tx1"/>
                </a:solidFill>
              </a:rPr>
              <a:t>data-driven software</a:t>
            </a:r>
            <a:r>
              <a:rPr lang="en-US" sz="1200" dirty="0"/>
              <a:t> &amp; showed gaps in existing works[3].</a:t>
            </a:r>
          </a:p>
          <a:p>
            <a:pPr algn="ctr"/>
            <a:endParaRPr lang="en-US" dirty="0"/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CC5B13B7-810C-4889-BA96-79EF332E629A}"/>
              </a:ext>
            </a:extLst>
          </p:cNvPr>
          <p:cNvSpPr/>
          <p:nvPr/>
        </p:nvSpPr>
        <p:spPr>
          <a:xfrm>
            <a:off x="8373980" y="1624265"/>
            <a:ext cx="3204894" cy="1985210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Study on the existing prejudice on  </a:t>
            </a:r>
            <a:r>
              <a:rPr lang="en-US" sz="1200" dirty="0">
                <a:solidFill>
                  <a:schemeClr val="bg1"/>
                </a:solidFill>
              </a:rPr>
              <a:t>relationship among</a:t>
            </a:r>
            <a:r>
              <a:rPr lang="en-US" sz="1400" b="1" dirty="0">
                <a:solidFill>
                  <a:schemeClr val="tx1"/>
                </a:solidFill>
              </a:rPr>
              <a:t> fairness &amp; dataset &amp; feature size</a:t>
            </a:r>
            <a:r>
              <a:rPr lang="en-US" sz="1200" dirty="0"/>
              <a:t>[4].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681F0C9-1E38-D913-E9F9-1C1C7E4CB51A}"/>
              </a:ext>
            </a:extLst>
          </p:cNvPr>
          <p:cNvSpPr/>
          <p:nvPr/>
        </p:nvSpPr>
        <p:spPr>
          <a:xfrm>
            <a:off x="8205216" y="4099059"/>
            <a:ext cx="3742944" cy="821858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Exploratory studies related to ethical software engineering &amp; DEI practices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BC0033-EFFF-C486-3CAE-CE3FFD145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8416" y="8329612"/>
            <a:ext cx="7644384" cy="115728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33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F10F6-1028-99E4-7A43-8EC36A524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1B4B1-2054-F6BE-3D7B-4C33AE2C5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Inclusivity must extend </a:t>
            </a:r>
            <a:r>
              <a:rPr lang="en-US" b="1" dirty="0"/>
              <a:t>beyond the user interface</a:t>
            </a:r>
            <a:r>
              <a:rPr lang="en-US" dirty="0"/>
              <a:t> to team composition</a:t>
            </a:r>
          </a:p>
          <a:p>
            <a:r>
              <a:rPr lang="en-US" sz="2000" dirty="0"/>
              <a:t>Even with large datasets, a </a:t>
            </a:r>
            <a:r>
              <a:rPr lang="en-US" sz="2000" b="1" dirty="0"/>
              <a:t>limited feature </a:t>
            </a:r>
            <a:r>
              <a:rPr lang="en-US" sz="2000" dirty="0"/>
              <a:t>set can worsen existing biases</a:t>
            </a:r>
          </a:p>
          <a:p>
            <a:r>
              <a:rPr lang="en-US" dirty="0"/>
              <a:t>Software evaluation must  have both </a:t>
            </a:r>
            <a:r>
              <a:rPr lang="en-US" b="1" dirty="0"/>
              <a:t>external and internal evaluation</a:t>
            </a:r>
            <a:r>
              <a:rPr lang="en-US" dirty="0"/>
              <a:t> to create increasingly sophisticated and morally sound system</a:t>
            </a:r>
          </a:p>
          <a:p>
            <a:r>
              <a:rPr lang="en-US" dirty="0"/>
              <a:t>The incremental </a:t>
            </a:r>
            <a:r>
              <a:rPr lang="en-US" b="1" dirty="0"/>
              <a:t>IEEE/ACM Workshop</a:t>
            </a:r>
            <a:r>
              <a:rPr lang="en-US" dirty="0"/>
              <a:t> on Software Fairness are evidence of the software engineering community’s </a:t>
            </a:r>
            <a:r>
              <a:rPr lang="en-US" b="1" dirty="0"/>
              <a:t>enhancing participation</a:t>
            </a:r>
            <a:r>
              <a:rPr lang="en-US" dirty="0"/>
              <a:t> in fairness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3D9E0-7056-0DED-4F85-2A7C37903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Content Placeholder 13" descr="A person and person sitting at desks with laptops&#10;&#10;Description automatically generated">
            <a:extLst>
              <a:ext uri="{FF2B5EF4-FFF2-40B4-BE49-F238E27FC236}">
                <a16:creationId xmlns:a16="http://schemas.microsoft.com/office/drawing/2014/main" id="{2DE9643D-DB2A-4021-4152-FC3C4C55D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538" y="4577214"/>
            <a:ext cx="4109626" cy="187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2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93592-9933-5E22-FC01-F94258EB4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74279-CFEF-480E-0BA6-17B9F38DA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2242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    Testing Tools for Ethical Software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C1B5C-0910-03AD-CA83-BC87EA84F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37084"/>
            <a:ext cx="9601200" cy="393031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34CD5D-07AE-D64E-C8FA-9E4E5348EECB}"/>
              </a:ext>
            </a:extLst>
          </p:cNvPr>
          <p:cNvSpPr/>
          <p:nvPr/>
        </p:nvSpPr>
        <p:spPr>
          <a:xfrm>
            <a:off x="1167063" y="5402178"/>
            <a:ext cx="10347158" cy="11430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000" dirty="0"/>
          </a:p>
          <a:p>
            <a:r>
              <a:rPr lang="en-US" sz="1000" dirty="0"/>
              <a:t>[5] 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Tramer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Florian, et al. "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Fairtest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Discovering unwarranted associations in data-driven applications."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2017 IEEE European Symposium on Security and Privacy (</a:t>
            </a:r>
            <a:r>
              <a:rPr lang="en-US" sz="10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EuroS&amp;P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IEEE, 2017.</a:t>
            </a:r>
            <a:endParaRPr lang="en-US" sz="1000" dirty="0"/>
          </a:p>
          <a:p>
            <a:r>
              <a:rPr lang="en-US" sz="1000" dirty="0"/>
              <a:t>[6]  S. Galhotra, Y. Brun, and A. </a:t>
            </a:r>
            <a:r>
              <a:rPr lang="en-US" sz="1000" dirty="0" err="1"/>
              <a:t>Meliou</a:t>
            </a:r>
            <a:r>
              <a:rPr lang="en-US" sz="1000" dirty="0"/>
              <a:t>, “Fairness testing: testing software for discrimination,” in Proceedings of the 2017 11th Joint meeting on foundations of software engineering, pp. 498–510, 2017.</a:t>
            </a:r>
          </a:p>
          <a:p>
            <a:r>
              <a:rPr lang="en-US" sz="1000" dirty="0"/>
              <a:t>[7].R. Angell, B. Johnson, Y. Brun, and A. </a:t>
            </a:r>
            <a:r>
              <a:rPr lang="en-US" sz="1000" dirty="0" err="1"/>
              <a:t>Meliou</a:t>
            </a:r>
            <a:r>
              <a:rPr lang="en-US" sz="1000" dirty="0"/>
              <a:t>, “Themis: Automatically testing software for discrimination,” in Proceedings of the 2018 26</a:t>
            </a:r>
            <a:r>
              <a:rPr lang="en-US" sz="1000" baseline="30000" dirty="0"/>
              <a:t>th</a:t>
            </a:r>
            <a:r>
              <a:rPr lang="en-US" sz="1000" dirty="0"/>
              <a:t> ACM Joint meeting on </a:t>
            </a:r>
            <a:r>
              <a:rPr lang="en-US" sz="1000" dirty="0" err="1"/>
              <a:t>european</a:t>
            </a:r>
            <a:r>
              <a:rPr lang="en-US" sz="1000" dirty="0"/>
              <a:t> software engineering conference and symposium on the foundations of software engineering, pp. 871–875, 2018.</a:t>
            </a:r>
          </a:p>
          <a:p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656E1-A229-7C34-CB60-6B77A5EBC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10</a:t>
            </a:fld>
            <a:endParaRPr lang="en-US" dirty="0"/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9C315BD4-4B06-CC63-6728-FC772D1581AE}"/>
              </a:ext>
            </a:extLst>
          </p:cNvPr>
          <p:cNvSpPr/>
          <p:nvPr/>
        </p:nvSpPr>
        <p:spPr>
          <a:xfrm>
            <a:off x="682850" y="1440438"/>
            <a:ext cx="3057004" cy="1953126"/>
          </a:xfrm>
          <a:prstGeom prst="cloud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FairTest</a:t>
            </a:r>
            <a:r>
              <a:rPr lang="en-US" sz="1200" dirty="0"/>
              <a:t> that helps developers </a:t>
            </a:r>
            <a:r>
              <a:rPr lang="en-US" sz="1400" b="1" dirty="0">
                <a:solidFill>
                  <a:schemeClr val="tx1"/>
                </a:solidFill>
              </a:rPr>
              <a:t>detect and debug unfair treatment </a:t>
            </a:r>
            <a:r>
              <a:rPr lang="en-US" sz="1200" dirty="0"/>
              <a:t>in data-driven applications by analyzing associations between outcomes and sensitive user attributes[5].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93DEC080-D3E2-65F5-E8F0-29287470604C}"/>
              </a:ext>
            </a:extLst>
          </p:cNvPr>
          <p:cNvSpPr/>
          <p:nvPr/>
        </p:nvSpPr>
        <p:spPr>
          <a:xfrm>
            <a:off x="3739854" y="1351097"/>
            <a:ext cx="3506183" cy="1876537"/>
          </a:xfrm>
          <a:prstGeom prst="cloud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Themis, a framework for fairness testing </a:t>
            </a:r>
            <a:r>
              <a:rPr lang="en-US" sz="1400" b="1" dirty="0"/>
              <a:t>that </a:t>
            </a:r>
            <a:r>
              <a:rPr lang="en-US" sz="1400" b="1" dirty="0">
                <a:solidFill>
                  <a:schemeClr val="tx1"/>
                </a:solidFill>
              </a:rPr>
              <a:t>generates test suite</a:t>
            </a:r>
            <a:r>
              <a:rPr lang="en-US" sz="1400" b="1" dirty="0"/>
              <a:t> </a:t>
            </a:r>
            <a:r>
              <a:rPr lang="en-US" sz="1200" dirty="0"/>
              <a:t>to measure </a:t>
            </a:r>
            <a:r>
              <a:rPr lang="en-US" sz="1400" b="1" dirty="0">
                <a:solidFill>
                  <a:schemeClr val="tx1"/>
                </a:solidFill>
              </a:rPr>
              <a:t>individual discriminatio</a:t>
            </a:r>
            <a:r>
              <a:rPr lang="en-US" sz="1200" b="1" dirty="0">
                <a:solidFill>
                  <a:schemeClr val="tx1"/>
                </a:solidFill>
              </a:rPr>
              <a:t>n</a:t>
            </a:r>
            <a:r>
              <a:rPr lang="en-US" sz="1200" b="1" dirty="0"/>
              <a:t> </a:t>
            </a:r>
            <a:r>
              <a:rPr lang="en-US" sz="1200" dirty="0"/>
              <a:t>in  software systems [6].</a:t>
            </a:r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9D09E6E1-8E4F-40E3-A18B-13984948837B}"/>
              </a:ext>
            </a:extLst>
          </p:cNvPr>
          <p:cNvSpPr/>
          <p:nvPr/>
        </p:nvSpPr>
        <p:spPr>
          <a:xfrm>
            <a:off x="8186998" y="1744579"/>
            <a:ext cx="3057004" cy="1684421"/>
          </a:xfrm>
          <a:prstGeom prst="cloud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Extended Themis [6] to  Themis v2.0, where they generates test suite for </a:t>
            </a:r>
            <a:r>
              <a:rPr lang="en-US" sz="1400" b="1" dirty="0">
                <a:solidFill>
                  <a:schemeClr val="tx1"/>
                </a:solidFill>
              </a:rPr>
              <a:t>both group &amp; individual </a:t>
            </a:r>
            <a:r>
              <a:rPr lang="en-US" sz="1200" dirty="0"/>
              <a:t>discrimination in software systems[7].</a:t>
            </a:r>
          </a:p>
        </p:txBody>
      </p: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9570569F-7A90-A077-B345-BDAD28A52C70}"/>
              </a:ext>
            </a:extLst>
          </p:cNvPr>
          <p:cNvCxnSpPr>
            <a:cxnSpLocks/>
          </p:cNvCxnSpPr>
          <p:nvPr/>
        </p:nvCxnSpPr>
        <p:spPr>
          <a:xfrm>
            <a:off x="7113462" y="2462687"/>
            <a:ext cx="1073536" cy="465655"/>
          </a:xfrm>
          <a:prstGeom prst="bentConnector3">
            <a:avLst/>
          </a:prstGeom>
          <a:ln w="57150" cap="flat" cmpd="sng" algn="ctr">
            <a:solidFill>
              <a:schemeClr val="accent4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8F8CF82-E840-527C-DF76-049B129DEFAF}"/>
              </a:ext>
            </a:extLst>
          </p:cNvPr>
          <p:cNvSpPr/>
          <p:nvPr/>
        </p:nvSpPr>
        <p:spPr>
          <a:xfrm>
            <a:off x="4801771" y="4328105"/>
            <a:ext cx="2848459" cy="792588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Example interventions for fairness through software testing</a:t>
            </a:r>
          </a:p>
        </p:txBody>
      </p:sp>
      <p:pic>
        <p:nvPicPr>
          <p:cNvPr id="6" name="Picture 5" descr="A blue scale with two screens and a person on it&#10;&#10;Description automatically generated">
            <a:extLst>
              <a:ext uri="{FF2B5EF4-FFF2-40B4-BE49-F238E27FC236}">
                <a16:creationId xmlns:a16="http://schemas.microsoft.com/office/drawing/2014/main" id="{C029A8D9-19EF-3CB1-C11C-ED7D25A72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998" y="3477238"/>
            <a:ext cx="3190399" cy="182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10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867A5-6991-7C2E-DEE0-A2E6CC7B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3C842-DCF2-4603-9DC2-521AF2714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0984"/>
            <a:ext cx="9095874" cy="729616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Taxonomy of Existing Literature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1B6CE0-6DF8-FCB9-5B18-8F60B3443CA3}"/>
              </a:ext>
            </a:extLst>
          </p:cNvPr>
          <p:cNvSpPr/>
          <p:nvPr/>
        </p:nvSpPr>
        <p:spPr>
          <a:xfrm>
            <a:off x="5293511" y="1467853"/>
            <a:ext cx="2921795" cy="57751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Related Literature to Ethics &amp; Fairness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306377-C399-0232-D9C1-0DE96700E3E4}"/>
              </a:ext>
            </a:extLst>
          </p:cNvPr>
          <p:cNvCxnSpPr>
            <a:cxnSpLocks/>
          </p:cNvCxnSpPr>
          <p:nvPr/>
        </p:nvCxnSpPr>
        <p:spPr>
          <a:xfrm>
            <a:off x="6586538" y="2045368"/>
            <a:ext cx="0" cy="477253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57C3B69-5B75-BD9B-1B54-295D6CF025C5}"/>
              </a:ext>
            </a:extLst>
          </p:cNvPr>
          <p:cNvCxnSpPr>
            <a:cxnSpLocks/>
          </p:cNvCxnSpPr>
          <p:nvPr/>
        </p:nvCxnSpPr>
        <p:spPr>
          <a:xfrm>
            <a:off x="2986088" y="2522621"/>
            <a:ext cx="7772400" cy="0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6D37A3A-CBC2-5C24-2A62-64ABB681E391}"/>
              </a:ext>
            </a:extLst>
          </p:cNvPr>
          <p:cNvCxnSpPr>
            <a:cxnSpLocks/>
          </p:cNvCxnSpPr>
          <p:nvPr/>
        </p:nvCxnSpPr>
        <p:spPr>
          <a:xfrm>
            <a:off x="2986088" y="2522621"/>
            <a:ext cx="0" cy="620628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C522117-D470-B30A-98A0-9409BE924F16}"/>
              </a:ext>
            </a:extLst>
          </p:cNvPr>
          <p:cNvSpPr/>
          <p:nvPr/>
        </p:nvSpPr>
        <p:spPr>
          <a:xfrm>
            <a:off x="1785934" y="3143250"/>
            <a:ext cx="3014659" cy="728664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Ethics &amp; Fairness in Software Systems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4EAFE5B-457D-CB5B-F7DE-DC0B063AD9E3}"/>
              </a:ext>
            </a:extLst>
          </p:cNvPr>
          <p:cNvSpPr/>
          <p:nvPr/>
        </p:nvSpPr>
        <p:spPr>
          <a:xfrm>
            <a:off x="5293511" y="3143249"/>
            <a:ext cx="2614613" cy="72866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Ethics &amp; Fairness in AI driven Software System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B4C14F9-0759-8033-D54E-A68D30795D75}"/>
              </a:ext>
            </a:extLst>
          </p:cNvPr>
          <p:cNvCxnSpPr>
            <a:cxnSpLocks/>
          </p:cNvCxnSpPr>
          <p:nvPr/>
        </p:nvCxnSpPr>
        <p:spPr>
          <a:xfrm>
            <a:off x="6586538" y="2522621"/>
            <a:ext cx="0" cy="620627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30F9BB06-18EF-E4FC-598F-5059ED856C83}"/>
              </a:ext>
            </a:extLst>
          </p:cNvPr>
          <p:cNvSpPr/>
          <p:nvPr/>
        </p:nvSpPr>
        <p:spPr>
          <a:xfrm>
            <a:off x="8834441" y="3143248"/>
            <a:ext cx="2724144" cy="72866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Conducted User Studies for Fair Software System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E084CA4-A096-854A-DA9B-07F3D28BE521}"/>
              </a:ext>
            </a:extLst>
          </p:cNvPr>
          <p:cNvCxnSpPr>
            <a:cxnSpLocks/>
          </p:cNvCxnSpPr>
          <p:nvPr/>
        </p:nvCxnSpPr>
        <p:spPr>
          <a:xfrm>
            <a:off x="10758488" y="2522621"/>
            <a:ext cx="0" cy="620627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B40CD4E-A068-025A-9B51-0B54058AFB77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3293264" y="3871914"/>
            <a:ext cx="0" cy="700086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8776656-2A48-AD29-A964-FD450038A400}"/>
              </a:ext>
            </a:extLst>
          </p:cNvPr>
          <p:cNvCxnSpPr>
            <a:cxnSpLocks/>
          </p:cNvCxnSpPr>
          <p:nvPr/>
        </p:nvCxnSpPr>
        <p:spPr>
          <a:xfrm>
            <a:off x="1900238" y="4572000"/>
            <a:ext cx="2614612" cy="0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61AD884-7920-77E9-9A33-DCE3B50B0D12}"/>
              </a:ext>
            </a:extLst>
          </p:cNvPr>
          <p:cNvCxnSpPr>
            <a:cxnSpLocks/>
          </p:cNvCxnSpPr>
          <p:nvPr/>
        </p:nvCxnSpPr>
        <p:spPr>
          <a:xfrm>
            <a:off x="1900238" y="4572000"/>
            <a:ext cx="1" cy="757237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B2E58577-46AE-D020-1180-38AE93209E82}"/>
              </a:ext>
            </a:extLst>
          </p:cNvPr>
          <p:cNvSpPr/>
          <p:nvPr/>
        </p:nvSpPr>
        <p:spPr>
          <a:xfrm>
            <a:off x="871550" y="5329238"/>
            <a:ext cx="1871638" cy="132872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Practice &amp; Ignorance in Ethical Software Engineering</a:t>
            </a:r>
          </a:p>
          <a:p>
            <a:pPr algn="ctr"/>
            <a:endParaRPr lang="en-US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0374F0C-6A4E-3E24-CB7C-2AC6C40FB3B1}"/>
              </a:ext>
            </a:extLst>
          </p:cNvPr>
          <p:cNvSpPr/>
          <p:nvPr/>
        </p:nvSpPr>
        <p:spPr>
          <a:xfrm>
            <a:off x="3226701" y="5341152"/>
            <a:ext cx="1601748" cy="13048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 for Ethical Software Systems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EA568B7E-350C-B4CB-E61F-507C3F32C88C}"/>
              </a:ext>
            </a:extLst>
          </p:cNvPr>
          <p:cNvCxnSpPr>
            <a:cxnSpLocks/>
          </p:cNvCxnSpPr>
          <p:nvPr/>
        </p:nvCxnSpPr>
        <p:spPr>
          <a:xfrm>
            <a:off x="4514850" y="4572000"/>
            <a:ext cx="0" cy="781051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3140543-7D12-AED2-12A6-B6F14DB790BA}"/>
              </a:ext>
            </a:extLst>
          </p:cNvPr>
          <p:cNvSpPr/>
          <p:nvPr/>
        </p:nvSpPr>
        <p:spPr>
          <a:xfrm>
            <a:off x="5036338" y="5372073"/>
            <a:ext cx="1550200" cy="1267779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Fairness Principles in AI-Driven Software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BF02BE0-166F-D18D-0ED5-F58B9A1D4FA1}"/>
              </a:ext>
            </a:extLst>
          </p:cNvPr>
          <p:cNvSpPr/>
          <p:nvPr/>
        </p:nvSpPr>
        <p:spPr>
          <a:xfrm>
            <a:off x="6827159" y="5359710"/>
            <a:ext cx="1550200" cy="126777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 for AI Fairness in Software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5B20303-9A94-2648-ED83-2455C57037C2}"/>
              </a:ext>
            </a:extLst>
          </p:cNvPr>
          <p:cNvSpPr/>
          <p:nvPr/>
        </p:nvSpPr>
        <p:spPr>
          <a:xfrm>
            <a:off x="8702982" y="5329237"/>
            <a:ext cx="1550200" cy="126777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study on Fairness Guidelines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2A70964-0AFB-F76B-1593-2AB09D9ED848}"/>
              </a:ext>
            </a:extLst>
          </p:cNvPr>
          <p:cNvSpPr/>
          <p:nvPr/>
        </p:nvSpPr>
        <p:spPr>
          <a:xfrm>
            <a:off x="10545351" y="5338233"/>
            <a:ext cx="1550200" cy="1267779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User study on Fairness  Tools</a:t>
            </a:r>
          </a:p>
          <a:p>
            <a:pPr algn="ctr"/>
            <a:endParaRPr lang="en-US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AC09A67-7DA2-396B-8039-F9A4878E347D}"/>
              </a:ext>
            </a:extLst>
          </p:cNvPr>
          <p:cNvCxnSpPr>
            <a:cxnSpLocks/>
          </p:cNvCxnSpPr>
          <p:nvPr/>
        </p:nvCxnSpPr>
        <p:spPr>
          <a:xfrm flipV="1">
            <a:off x="5371986" y="4581525"/>
            <a:ext cx="2521858" cy="33311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D19ED69D-5136-D0C9-A50D-19A49D33B635}"/>
              </a:ext>
            </a:extLst>
          </p:cNvPr>
          <p:cNvCxnSpPr>
            <a:cxnSpLocks/>
          </p:cNvCxnSpPr>
          <p:nvPr/>
        </p:nvCxnSpPr>
        <p:spPr>
          <a:xfrm>
            <a:off x="5371986" y="4614836"/>
            <a:ext cx="1" cy="757237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4273625A-B3B8-C71D-D3D1-E6875B606BBC}"/>
              </a:ext>
            </a:extLst>
          </p:cNvPr>
          <p:cNvCxnSpPr>
            <a:cxnSpLocks/>
          </p:cNvCxnSpPr>
          <p:nvPr/>
        </p:nvCxnSpPr>
        <p:spPr>
          <a:xfrm>
            <a:off x="7893844" y="4572000"/>
            <a:ext cx="0" cy="823887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253B436F-AA67-F33F-7EF6-56B35B3CA879}"/>
              </a:ext>
            </a:extLst>
          </p:cNvPr>
          <p:cNvCxnSpPr>
            <a:cxnSpLocks/>
          </p:cNvCxnSpPr>
          <p:nvPr/>
        </p:nvCxnSpPr>
        <p:spPr>
          <a:xfrm>
            <a:off x="6632915" y="3871914"/>
            <a:ext cx="0" cy="700086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59A62C9C-800C-58DE-5E24-C65D1BDFD2EE}"/>
              </a:ext>
            </a:extLst>
          </p:cNvPr>
          <p:cNvCxnSpPr>
            <a:cxnSpLocks/>
          </p:cNvCxnSpPr>
          <p:nvPr/>
        </p:nvCxnSpPr>
        <p:spPr>
          <a:xfrm>
            <a:off x="9472736" y="4595814"/>
            <a:ext cx="1971552" cy="2366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FB0E65B2-DB7B-E1CE-F1A7-9A5123020AA2}"/>
              </a:ext>
            </a:extLst>
          </p:cNvPr>
          <p:cNvCxnSpPr>
            <a:cxnSpLocks/>
          </p:cNvCxnSpPr>
          <p:nvPr/>
        </p:nvCxnSpPr>
        <p:spPr>
          <a:xfrm>
            <a:off x="9472736" y="4595814"/>
            <a:ext cx="0" cy="781036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77625058-746D-166A-3643-79A76DBE8C2B}"/>
              </a:ext>
            </a:extLst>
          </p:cNvPr>
          <p:cNvCxnSpPr>
            <a:cxnSpLocks/>
          </p:cNvCxnSpPr>
          <p:nvPr/>
        </p:nvCxnSpPr>
        <p:spPr>
          <a:xfrm>
            <a:off x="11429636" y="4595814"/>
            <a:ext cx="1" cy="757237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A47A07EB-1E9E-7AD1-5D82-3DAB4E056056}"/>
              </a:ext>
            </a:extLst>
          </p:cNvPr>
          <p:cNvCxnSpPr>
            <a:cxnSpLocks/>
          </p:cNvCxnSpPr>
          <p:nvPr/>
        </p:nvCxnSpPr>
        <p:spPr>
          <a:xfrm>
            <a:off x="10280509" y="3881439"/>
            <a:ext cx="0" cy="700086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D3CC43-0B16-C6A4-48A8-6F192F00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5B3ECAE1-9F3C-13AA-BE9F-8D779457254A}"/>
              </a:ext>
            </a:extLst>
          </p:cNvPr>
          <p:cNvSpPr/>
          <p:nvPr/>
        </p:nvSpPr>
        <p:spPr>
          <a:xfrm>
            <a:off x="5382199" y="2160079"/>
            <a:ext cx="484632" cy="978408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BE265-92D4-8553-E2AD-95550FFEC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684CD-EA12-BD94-6BCC-25F13D3FB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33138"/>
            <a:ext cx="9601200" cy="902368"/>
          </a:xfrm>
        </p:spPr>
        <p:txBody>
          <a:bodyPr>
            <a:normAutofit/>
          </a:bodyPr>
          <a:lstStyle/>
          <a:p>
            <a:r>
              <a:rPr lang="en-US" sz="3600" dirty="0"/>
              <a:t>         Fairness in AI-Driven Software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1FED61-A203-133F-74F8-3E441DD4D794}"/>
              </a:ext>
            </a:extLst>
          </p:cNvPr>
          <p:cNvSpPr/>
          <p:nvPr/>
        </p:nvSpPr>
        <p:spPr>
          <a:xfrm>
            <a:off x="1175085" y="5029200"/>
            <a:ext cx="10603832" cy="13956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[8] J. </a:t>
            </a:r>
            <a:r>
              <a:rPr lang="en-US" sz="1000" dirty="0" err="1"/>
              <a:t>Franse</a:t>
            </a:r>
            <a:r>
              <a:rPr lang="en-US" sz="1000" dirty="0"/>
              <a:t>, V. </a:t>
            </a:r>
            <a:r>
              <a:rPr lang="en-US" sz="1000" dirty="0" err="1"/>
              <a:t>Misheva</a:t>
            </a:r>
            <a:r>
              <a:rPr lang="en-US" sz="1000" dirty="0"/>
              <a:t>, and D. S. Vale, “Practical and open source best practices for ethical machine learning,” in Towards Trustworthy Artificial Intelligent Systems, pp. 77–84, Springer, 2022.</a:t>
            </a:r>
          </a:p>
          <a:p>
            <a:r>
              <a:rPr lang="en-US" sz="1000" dirty="0"/>
              <a:t>[9] N. </a:t>
            </a:r>
            <a:r>
              <a:rPr lang="en-US" sz="1000" dirty="0" err="1"/>
              <a:t>Mehrabi</a:t>
            </a:r>
            <a:r>
              <a:rPr lang="en-US" sz="1000" dirty="0"/>
              <a:t>, F. </a:t>
            </a:r>
            <a:r>
              <a:rPr lang="en-US" sz="1000" dirty="0" err="1"/>
              <a:t>Morstatter</a:t>
            </a:r>
            <a:r>
              <a:rPr lang="en-US" sz="1000" dirty="0"/>
              <a:t>, N. Saxena, K. </a:t>
            </a:r>
            <a:r>
              <a:rPr lang="en-US" sz="1000" dirty="0" err="1"/>
              <a:t>Lerman</a:t>
            </a:r>
            <a:r>
              <a:rPr lang="en-US" sz="1000" dirty="0"/>
              <a:t>, and A. </a:t>
            </a:r>
            <a:r>
              <a:rPr lang="en-US" sz="1000" dirty="0" err="1"/>
              <a:t>Galstyan,“A</a:t>
            </a:r>
            <a:r>
              <a:rPr lang="en-US" sz="1000" dirty="0"/>
              <a:t> survey on bias and fairness in machine learning,” ACM Computing Surveys (CSUR), vol. 54, no. 6, pp. 1–35, 2021</a:t>
            </a:r>
          </a:p>
          <a:p>
            <a:r>
              <a:rPr lang="en-US" sz="1000" dirty="0"/>
              <a:t>[10] D. </a:t>
            </a:r>
            <a:r>
              <a:rPr lang="en-US" sz="1000" dirty="0" err="1"/>
              <a:t>Pessach</a:t>
            </a:r>
            <a:r>
              <a:rPr lang="en-US" sz="1000" dirty="0"/>
              <a:t> and E. </a:t>
            </a:r>
            <a:r>
              <a:rPr lang="en-US" sz="1000" dirty="0" err="1"/>
              <a:t>Shmueli</a:t>
            </a:r>
            <a:r>
              <a:rPr lang="en-US" sz="1000" dirty="0"/>
              <a:t>, “A review on fairness in machine learning,” ACM Computing Surveys (CSUR), vol. 55, no. 3, pp. 1–44, 2022.</a:t>
            </a:r>
          </a:p>
          <a:p>
            <a:r>
              <a:rPr lang="en-US" sz="1000" dirty="0"/>
              <a:t>[11] S. Caton and C. Haas, “Fairness in machine learning: A survey,” ACM </a:t>
            </a:r>
            <a:r>
              <a:rPr lang="en-US" sz="1000" dirty="0" err="1"/>
              <a:t>Comput</a:t>
            </a:r>
            <a:r>
              <a:rPr lang="en-US" sz="1000" dirty="0"/>
              <a:t>. </a:t>
            </a:r>
            <a:r>
              <a:rPr lang="en-US" sz="1000" dirty="0" err="1"/>
              <a:t>Surv</a:t>
            </a:r>
            <a:r>
              <a:rPr lang="en-US" sz="1000" dirty="0"/>
              <a:t>., vol. 56, Apr. 2024</a:t>
            </a:r>
          </a:p>
          <a:p>
            <a:r>
              <a:rPr lang="en-US" sz="1000" dirty="0"/>
              <a:t>[12] T. P. Pagano, R. B. Loureiro, F. V. Lisboa, R. M. Peixoto, G. A. </a:t>
            </a:r>
            <a:r>
              <a:rPr lang="en-US" sz="1000" dirty="0" err="1"/>
              <a:t>Guimar˜aes</a:t>
            </a:r>
            <a:r>
              <a:rPr lang="en-US" sz="1000" dirty="0"/>
              <a:t>, G. O. Cruz, M. M. Araujo, L. L. Santos, M. A. Cruz, E. L. Oliveira, et al., “Bias and unfairness in machine learning models: a systematic review on datasets, tools, fairness metrics, and identification and mitigation methods,” Big data and cognitive computing, vol. 7, no. 1,p. 15,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81110E-BA99-66CE-8799-C72793C0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93D03EF4-4622-A156-9388-98B31D6571A7}"/>
              </a:ext>
            </a:extLst>
          </p:cNvPr>
          <p:cNvSpPr/>
          <p:nvPr/>
        </p:nvSpPr>
        <p:spPr>
          <a:xfrm>
            <a:off x="874295" y="1143000"/>
            <a:ext cx="3264568" cy="1851861"/>
          </a:xfrm>
          <a:prstGeom prst="cloud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Examines </a:t>
            </a:r>
            <a:r>
              <a:rPr lang="en-US" sz="1400" b="1" dirty="0">
                <a:solidFill>
                  <a:schemeClr val="tx1"/>
                </a:solidFill>
              </a:rPr>
              <a:t>ongoing evolution, inherent trust dilemmas</a:t>
            </a:r>
            <a:r>
              <a:rPr lang="en-US" sz="1400" b="1" dirty="0"/>
              <a:t> </a:t>
            </a:r>
            <a:r>
              <a:rPr lang="en-US" sz="1200" dirty="0"/>
              <a:t>across </a:t>
            </a:r>
            <a:r>
              <a:rPr lang="en-US" sz="1400" b="1" dirty="0">
                <a:solidFill>
                  <a:schemeClr val="tx1"/>
                </a:solidFill>
              </a:rPr>
              <a:t>diverse AI applications</a:t>
            </a:r>
            <a:r>
              <a:rPr lang="en-US" sz="1200" dirty="0"/>
              <a:t> through case studies &amp;  shedding light on open-source best practices[8].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EFC77A8A-4CF9-6C3C-DB03-7360E722A776}"/>
              </a:ext>
            </a:extLst>
          </p:cNvPr>
          <p:cNvSpPr/>
          <p:nvPr/>
        </p:nvSpPr>
        <p:spPr>
          <a:xfrm>
            <a:off x="4138863" y="1142999"/>
            <a:ext cx="3284621" cy="1851861"/>
          </a:xfrm>
          <a:prstGeom prst="cloud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 taxonomy of fairness</a:t>
            </a:r>
            <a:r>
              <a:rPr lang="en-US" sz="1400" b="1" dirty="0"/>
              <a:t>, </a:t>
            </a:r>
            <a:r>
              <a:rPr lang="en-US" sz="1200" dirty="0">
                <a:solidFill>
                  <a:schemeClr val="bg1"/>
                </a:solidFill>
              </a:rPr>
              <a:t>discussing fairness </a:t>
            </a:r>
            <a:r>
              <a:rPr lang="en-US" sz="1400" b="1" dirty="0">
                <a:solidFill>
                  <a:schemeClr val="tx1"/>
                </a:solidFill>
              </a:rPr>
              <a:t>assessment methods</a:t>
            </a:r>
            <a:r>
              <a:rPr lang="en-US" sz="1400" dirty="0"/>
              <a:t>, </a:t>
            </a:r>
            <a:r>
              <a:rPr lang="en-US" sz="1200" dirty="0"/>
              <a:t>identifying</a:t>
            </a:r>
            <a:r>
              <a:rPr lang="en-US" sz="1400" dirty="0"/>
              <a:t> </a:t>
            </a:r>
            <a:r>
              <a:rPr lang="en-US" sz="1400" b="1" dirty="0">
                <a:solidFill>
                  <a:schemeClr val="tx1"/>
                </a:solidFill>
              </a:rPr>
              <a:t>bias sources</a:t>
            </a:r>
            <a:r>
              <a:rPr lang="en-US" sz="1400" dirty="0"/>
              <a:t>, </a:t>
            </a:r>
            <a:r>
              <a:rPr lang="en-US" sz="1200" dirty="0"/>
              <a:t>and</a:t>
            </a:r>
            <a:r>
              <a:rPr lang="en-US" sz="1400" dirty="0"/>
              <a:t> </a:t>
            </a:r>
            <a:r>
              <a:rPr lang="en-US" sz="1200" dirty="0"/>
              <a:t>examining</a:t>
            </a:r>
            <a:r>
              <a:rPr lang="en-US" sz="1400" dirty="0"/>
              <a:t> </a:t>
            </a:r>
            <a:r>
              <a:rPr lang="en-US" sz="1400" b="1" dirty="0">
                <a:solidFill>
                  <a:schemeClr val="tx1"/>
                </a:solidFill>
              </a:rPr>
              <a:t>mitigation techniques</a:t>
            </a:r>
            <a:r>
              <a:rPr lang="en-US" sz="1200" dirty="0"/>
              <a:t>[9].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593C8302-21D8-104E-834F-AC328CC2B7B4}"/>
              </a:ext>
            </a:extLst>
          </p:cNvPr>
          <p:cNvSpPr/>
          <p:nvPr/>
        </p:nvSpPr>
        <p:spPr>
          <a:xfrm>
            <a:off x="7623984" y="1142999"/>
            <a:ext cx="3445044" cy="1659355"/>
          </a:xfrm>
          <a:prstGeom prst="cloud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Reviews the </a:t>
            </a:r>
            <a:r>
              <a:rPr lang="en-US" sz="1400" b="1" dirty="0">
                <a:solidFill>
                  <a:schemeClr val="tx1"/>
                </a:solidFill>
              </a:rPr>
              <a:t>causes of unfairness</a:t>
            </a:r>
            <a:r>
              <a:rPr lang="en-US" sz="1200" b="1" dirty="0">
                <a:solidFill>
                  <a:schemeClr val="tx1"/>
                </a:solidFill>
              </a:rPr>
              <a:t> &amp; </a:t>
            </a:r>
            <a:r>
              <a:rPr lang="en-US" sz="1400" b="1" dirty="0">
                <a:solidFill>
                  <a:schemeClr val="tx1"/>
                </a:solidFill>
              </a:rPr>
              <a:t>enhancing mechanism </a:t>
            </a:r>
            <a:r>
              <a:rPr lang="en-US" sz="1400" b="1" dirty="0"/>
              <a:t> </a:t>
            </a:r>
            <a:r>
              <a:rPr lang="en-US" sz="1200" b="1" dirty="0">
                <a:solidFill>
                  <a:schemeClr val="bg1"/>
                </a:solidFill>
              </a:rPr>
              <a:t>with </a:t>
            </a:r>
            <a:r>
              <a:rPr lang="en-US" sz="1200" dirty="0">
                <a:solidFill>
                  <a:schemeClr val="bg1"/>
                </a:solidFill>
              </a:rPr>
              <a:t>side-by-side evaluation </a:t>
            </a:r>
            <a:r>
              <a:rPr lang="en-US" sz="1200" dirty="0"/>
              <a:t>of different fairness mechanisms  across dozens of datasets.</a:t>
            </a:r>
            <a:br>
              <a:rPr lang="en-US" sz="1200" dirty="0"/>
            </a:br>
            <a:r>
              <a:rPr lang="en-US" sz="1200" dirty="0"/>
              <a:t>[10].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E3B8EEF6-42B1-694B-4281-D26315DA8324}"/>
              </a:ext>
            </a:extLst>
          </p:cNvPr>
          <p:cNvSpPr/>
          <p:nvPr/>
        </p:nvSpPr>
        <p:spPr>
          <a:xfrm>
            <a:off x="1552074" y="2875043"/>
            <a:ext cx="3519230" cy="1908758"/>
          </a:xfrm>
          <a:prstGeom prst="cloud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b="1" dirty="0"/>
              <a:t>A comprehensive overview of fairness </a:t>
            </a:r>
            <a:r>
              <a:rPr lang="en-US" sz="1200" dirty="0"/>
              <a:t>in machine learning, </a:t>
            </a:r>
            <a:r>
              <a:rPr lang="en-US" sz="1200" b="1" dirty="0"/>
              <a:t>categorizes </a:t>
            </a:r>
            <a:r>
              <a:rPr lang="en-US" sz="1400" b="1" dirty="0">
                <a:solidFill>
                  <a:schemeClr val="tx1"/>
                </a:solidFill>
              </a:rPr>
              <a:t>fairness solutions in smaller subcategories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/>
              <a:t>fairness measurements </a:t>
            </a:r>
            <a:r>
              <a:rPr lang="en-US" sz="1200" b="1" dirty="0"/>
              <a:t>[11</a:t>
            </a:r>
            <a:r>
              <a:rPr lang="en-US" sz="1200" dirty="0"/>
              <a:t>].  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C710C049-29A8-98A5-90C6-2F19C50774F3}"/>
              </a:ext>
            </a:extLst>
          </p:cNvPr>
          <p:cNvSpPr/>
          <p:nvPr/>
        </p:nvSpPr>
        <p:spPr>
          <a:xfrm>
            <a:off x="5071304" y="2805613"/>
            <a:ext cx="3284622" cy="1908758"/>
          </a:xfrm>
          <a:prstGeom prst="cloud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Showed </a:t>
            </a:r>
            <a:r>
              <a:rPr lang="en-US" sz="1400" b="1" dirty="0">
                <a:solidFill>
                  <a:schemeClr val="tx1"/>
                </a:solidFill>
              </a:rPr>
              <a:t>taxonomy of 45 existing literatures </a:t>
            </a:r>
            <a:r>
              <a:rPr lang="en-US" sz="1200" dirty="0"/>
              <a:t>based on </a:t>
            </a:r>
            <a:r>
              <a:rPr lang="en-US" sz="1200" b="1" dirty="0"/>
              <a:t>existing </a:t>
            </a:r>
            <a:r>
              <a:rPr lang="en-US" sz="1200" dirty="0"/>
              <a:t>fairness metrices, evaluation dataset and mitigation algorithms[12].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21A36D-B51B-51CF-8D4F-ED4C571A70F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0972799" y="6588292"/>
            <a:ext cx="1503948" cy="914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5339264-42DE-FE20-5249-D873F0E2F754}"/>
              </a:ext>
            </a:extLst>
          </p:cNvPr>
          <p:cNvSpPr/>
          <p:nvPr/>
        </p:nvSpPr>
        <p:spPr>
          <a:xfrm>
            <a:off x="8839188" y="3639553"/>
            <a:ext cx="3035968" cy="9144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Discuss existing literatures for defining fairness terminologies &amp; mitigation techniques</a:t>
            </a:r>
          </a:p>
        </p:txBody>
      </p:sp>
    </p:spTree>
    <p:extLst>
      <p:ext uri="{BB962C8B-B14F-4D97-AF65-F5344CB8AC3E}">
        <p14:creationId xmlns:p14="http://schemas.microsoft.com/office/powerpoint/2010/main" val="4168770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0DB8A-C5ED-FC2B-7FE9-8397AA1E1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0664"/>
          </a:xfrm>
        </p:spPr>
        <p:txBody>
          <a:bodyPr/>
          <a:lstStyle/>
          <a:p>
            <a:r>
              <a:rPr lang="en-US" dirty="0"/>
              <a:t>                     Implications</a:t>
            </a:r>
          </a:p>
        </p:txBody>
      </p:sp>
      <p:pic>
        <p:nvPicPr>
          <p:cNvPr id="6" name="Content Placeholder 5" descr="A robot holding a scale with people on it&#10;&#10;Description automatically generated">
            <a:extLst>
              <a:ext uri="{FF2B5EF4-FFF2-40B4-BE49-F238E27FC236}">
                <a16:creationId xmlns:a16="http://schemas.microsoft.com/office/drawing/2014/main" id="{0D34E347-F293-BEC1-DE93-6FA451191F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46720" y="4730496"/>
            <a:ext cx="3999120" cy="212750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93611-0AE3-6430-A5A5-AD0C66680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36764-0CFB-34A7-7110-4AA6CBF6D6F5}"/>
              </a:ext>
            </a:extLst>
          </p:cNvPr>
          <p:cNvSpPr txBox="1"/>
          <p:nvPr/>
        </p:nvSpPr>
        <p:spPr>
          <a:xfrm>
            <a:off x="1133856" y="2231136"/>
            <a:ext cx="107777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Ethical practices should adapt to the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specific context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and use-case rather than applying a 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  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one-size-fits-all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approach.</a:t>
            </a:r>
          </a:p>
          <a:p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Although </a:t>
            </a:r>
            <a:r>
              <a:rPr lang="en-US" b="1" dirty="0"/>
              <a:t>group</a:t>
            </a:r>
            <a:r>
              <a:rPr lang="en-US" dirty="0"/>
              <a:t> fairness is the most </a:t>
            </a:r>
            <a:r>
              <a:rPr lang="en-US" b="1" dirty="0"/>
              <a:t>common</a:t>
            </a:r>
            <a:r>
              <a:rPr lang="en-US" dirty="0"/>
              <a:t> strategy, it may</a:t>
            </a:r>
            <a:r>
              <a:rPr lang="en-US" b="1" dirty="0"/>
              <a:t> inadvertently</a:t>
            </a:r>
            <a:r>
              <a:rPr lang="en-US" dirty="0"/>
              <a:t> introduce </a:t>
            </a:r>
            <a:r>
              <a:rPr lang="en-US" b="1" dirty="0"/>
              <a:t>disguised</a:t>
            </a:r>
            <a:r>
              <a:rPr lang="en-US" dirty="0"/>
              <a:t> discrimination against </a:t>
            </a:r>
            <a:r>
              <a:rPr lang="en-US" b="1" dirty="0"/>
              <a:t>apparently privileged</a:t>
            </a:r>
            <a:r>
              <a:rPr lang="en-US" dirty="0"/>
              <a:t> groups.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Equality &amp; equity have often been treated as similar concept throughout the literatures which are different concepts.</a:t>
            </a:r>
          </a:p>
          <a:p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Needs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Human-in-the-loop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intervention for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fairness assurance.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B8441-99EA-2A55-0539-CCFBBA5C2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E61F9-1D88-4C21-8650-C4DB0C9E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36884"/>
            <a:ext cx="9601200" cy="1082842"/>
          </a:xfrm>
        </p:spPr>
        <p:txBody>
          <a:bodyPr>
            <a:normAutofit/>
          </a:bodyPr>
          <a:lstStyle/>
          <a:p>
            <a:r>
              <a:rPr lang="en-US" sz="4400" dirty="0"/>
              <a:t>         </a:t>
            </a:r>
            <a:r>
              <a:rPr lang="en-US" sz="4000" dirty="0"/>
              <a:t>Example of AI-Driven Fairness Tools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6E048C-390F-7A12-0D3F-C1A73CB5ECFE}"/>
              </a:ext>
            </a:extLst>
          </p:cNvPr>
          <p:cNvSpPr/>
          <p:nvPr/>
        </p:nvSpPr>
        <p:spPr>
          <a:xfrm>
            <a:off x="1371599" y="5426241"/>
            <a:ext cx="10190747" cy="14317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[13].R. K. Bellamy, K. Dey, M. Hind, S. C. Hoffman, S. </a:t>
            </a:r>
            <a:r>
              <a:rPr lang="en-US" sz="1000" dirty="0" err="1"/>
              <a:t>Houde</a:t>
            </a:r>
            <a:r>
              <a:rPr lang="en-US" sz="1000" dirty="0"/>
              <a:t>, K. Kannan, P. </a:t>
            </a:r>
            <a:r>
              <a:rPr lang="en-US" sz="1000" dirty="0" err="1"/>
              <a:t>Lohia</a:t>
            </a:r>
            <a:r>
              <a:rPr lang="en-US" sz="1000" dirty="0"/>
              <a:t>, J. Martino, S. Mehta, A. </a:t>
            </a:r>
            <a:r>
              <a:rPr lang="en-US" sz="1000" dirty="0" err="1"/>
              <a:t>Mojsilovi´c</a:t>
            </a:r>
            <a:r>
              <a:rPr lang="en-US" sz="1000" dirty="0"/>
              <a:t>, et al., “Ai fairness 360: An extensible toolkit for detecting and mitigating algorithmic bias,” IBM Journal of Research and Development, vol. 63, no. 4/5, pp. 4–1, 2019. </a:t>
            </a:r>
          </a:p>
          <a:p>
            <a:r>
              <a:rPr lang="en-US" sz="1000" dirty="0"/>
              <a:t>[14] B. Johnson, J. </a:t>
            </a:r>
            <a:r>
              <a:rPr lang="en-US" sz="1000" dirty="0" err="1"/>
              <a:t>Bartola</a:t>
            </a:r>
            <a:r>
              <a:rPr lang="en-US" sz="1000" dirty="0"/>
              <a:t>, R. Angell, K. Keith, S. Witty, S. J. </a:t>
            </a:r>
            <a:r>
              <a:rPr lang="en-US" sz="1000" dirty="0" err="1"/>
              <a:t>Giguere</a:t>
            </a:r>
            <a:r>
              <a:rPr lang="en-US" sz="1000" dirty="0"/>
              <a:t>, and Y. Brun, “</a:t>
            </a:r>
            <a:r>
              <a:rPr lang="en-US" sz="1000" dirty="0" err="1"/>
              <a:t>Fairkit</a:t>
            </a:r>
            <a:r>
              <a:rPr lang="en-US" sz="1000" dirty="0"/>
              <a:t>, </a:t>
            </a:r>
            <a:r>
              <a:rPr lang="en-US" sz="1000" dirty="0" err="1"/>
              <a:t>fairkit</a:t>
            </a:r>
            <a:r>
              <a:rPr lang="en-US" sz="1000" dirty="0"/>
              <a:t>, on the wall, who’s the fairest of them all? supporting data scientists in training fair models,” </a:t>
            </a:r>
            <a:r>
              <a:rPr lang="en-US" sz="1000" dirty="0" err="1"/>
              <a:t>arXiv</a:t>
            </a:r>
            <a:r>
              <a:rPr lang="en-US" sz="1000" dirty="0"/>
              <a:t> preprint arXiv:2012.09951, 2020.</a:t>
            </a:r>
          </a:p>
          <a:p>
            <a:r>
              <a:rPr lang="en-US" sz="1000" dirty="0"/>
              <a:t>[15] P. </a:t>
            </a:r>
            <a:r>
              <a:rPr lang="en-US" sz="1000" dirty="0" err="1"/>
              <a:t>Saleiro</a:t>
            </a:r>
            <a:r>
              <a:rPr lang="en-US" sz="1000" dirty="0"/>
              <a:t>, B. Kuester, L. Hinkson, J .London, A. Stevens, A. </a:t>
            </a:r>
            <a:r>
              <a:rPr lang="en-US" sz="1000" dirty="0" err="1"/>
              <a:t>Anisfeld</a:t>
            </a:r>
            <a:r>
              <a:rPr lang="en-US" sz="1000" dirty="0"/>
              <a:t>, K. T. </a:t>
            </a:r>
            <a:r>
              <a:rPr lang="en-US" sz="1000" dirty="0" err="1"/>
              <a:t>Rodolfa</a:t>
            </a:r>
            <a:r>
              <a:rPr lang="en-US" sz="1000" dirty="0"/>
              <a:t>, and R. Ghani, “Aequitas: A bias and fairness audit toolkit,” </a:t>
            </a:r>
            <a:r>
              <a:rPr lang="en-US" sz="1000" dirty="0" err="1"/>
              <a:t>arXiv</a:t>
            </a:r>
            <a:r>
              <a:rPr lang="en-US" sz="1000" dirty="0"/>
              <a:t> preprint arXiv:1811.05577, 2018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187E3-D53A-F991-3E2B-449F57A7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403D5242-96B7-F895-BB4B-FD275F9AE134}"/>
              </a:ext>
            </a:extLst>
          </p:cNvPr>
          <p:cNvSpPr/>
          <p:nvPr/>
        </p:nvSpPr>
        <p:spPr>
          <a:xfrm>
            <a:off x="1987217" y="1335506"/>
            <a:ext cx="3156284" cy="1672388"/>
          </a:xfrm>
          <a:prstGeom prst="cloud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 	</a:t>
            </a:r>
          </a:p>
          <a:p>
            <a:pPr algn="ctr"/>
            <a:r>
              <a:rPr lang="en-US" sz="1200" dirty="0"/>
              <a:t>AIF360 comprises </a:t>
            </a:r>
            <a:r>
              <a:rPr lang="en-US" sz="1400" b="1" dirty="0">
                <a:solidFill>
                  <a:schemeClr val="tx2"/>
                </a:solidFill>
              </a:rPr>
              <a:t>70 fairness metrices and 10 bias mitigation techniques</a:t>
            </a:r>
            <a:r>
              <a:rPr lang="en-US" sz="1200" dirty="0"/>
              <a:t>,  enabling users to  access the tool's extension[13].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872C44D0-4B08-CA20-6045-093DFD7D207E}"/>
              </a:ext>
            </a:extLst>
          </p:cNvPr>
          <p:cNvSpPr/>
          <p:nvPr/>
        </p:nvSpPr>
        <p:spPr>
          <a:xfrm>
            <a:off x="4686299" y="2226291"/>
            <a:ext cx="3489159" cy="1780225"/>
          </a:xfrm>
          <a:prstGeom prst="cloud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 err="1"/>
              <a:t>Fairkit</a:t>
            </a:r>
            <a:r>
              <a:rPr lang="en-US" sz="1200" dirty="0"/>
              <a:t>-learn, </a:t>
            </a:r>
            <a:r>
              <a:rPr lang="en-US" sz="1200" dirty="0">
                <a:solidFill>
                  <a:schemeClr val="bg1"/>
                </a:solidFill>
              </a:rPr>
              <a:t>built upon Scikit-learn and AI Fairness 360</a:t>
            </a:r>
            <a:r>
              <a:rPr lang="en-US" sz="1200" dirty="0"/>
              <a:t>, by </a:t>
            </a:r>
            <a:r>
              <a:rPr lang="en-US" sz="1400" b="1" dirty="0">
                <a:solidFill>
                  <a:schemeClr val="tx1"/>
                </a:solidFill>
              </a:rPr>
              <a:t>optimal search methods </a:t>
            </a:r>
            <a:r>
              <a:rPr lang="en-US" sz="1200" dirty="0"/>
              <a:t>to help identify the most suitable fair model for specific datasets[14].</a:t>
            </a:r>
          </a:p>
          <a:p>
            <a:pPr algn="ctr"/>
            <a:endParaRPr lang="en-US" sz="1200" dirty="0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280E98F2-A76F-C1F7-325B-EBA233581613}"/>
              </a:ext>
            </a:extLst>
          </p:cNvPr>
          <p:cNvSpPr/>
          <p:nvPr/>
        </p:nvSpPr>
        <p:spPr>
          <a:xfrm>
            <a:off x="8175459" y="1095339"/>
            <a:ext cx="3489159" cy="1889406"/>
          </a:xfrm>
          <a:prstGeom prst="cloud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Aequitas, an open-source toolkit, simplifies bias and fairness auditing in AI systems by providing intuitive access via </a:t>
            </a:r>
            <a:r>
              <a:rPr lang="en-US" sz="1400" b="1" dirty="0">
                <a:solidFill>
                  <a:schemeClr val="tx1"/>
                </a:solidFill>
              </a:rPr>
              <a:t>command line, python package  &amp; web interface</a:t>
            </a:r>
            <a:r>
              <a:rPr lang="en-US" sz="1200" dirty="0"/>
              <a:t>[15].</a:t>
            </a:r>
          </a:p>
          <a:p>
            <a:pPr algn="ctr"/>
            <a:endParaRPr lang="en-US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4FB1C654-1E6E-3FFB-6313-41EC76033098}"/>
              </a:ext>
            </a:extLst>
          </p:cNvPr>
          <p:cNvSpPr/>
          <p:nvPr/>
        </p:nvSpPr>
        <p:spPr>
          <a:xfrm>
            <a:off x="4686301" y="2226291"/>
            <a:ext cx="914400" cy="914400"/>
          </a:xfrm>
          <a:prstGeom prst="arc">
            <a:avLst>
              <a:gd name="adj1" fmla="val 15988714"/>
              <a:gd name="adj2" fmla="val 19236609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C0FFA8-6288-B722-CB48-40B1091F7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0" y="8705088"/>
            <a:ext cx="2286000" cy="64029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9B201EC-8AF5-103C-7ED1-329030CA1B96}"/>
              </a:ext>
            </a:extLst>
          </p:cNvPr>
          <p:cNvSpPr/>
          <p:nvPr/>
        </p:nvSpPr>
        <p:spPr>
          <a:xfrm>
            <a:off x="4924806" y="4643372"/>
            <a:ext cx="3389375" cy="75972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Example of open source tools for fairness in ML-driven systems</a:t>
            </a:r>
          </a:p>
        </p:txBody>
      </p:sp>
      <p:pic>
        <p:nvPicPr>
          <p:cNvPr id="10" name="Picture 9" descr="A person and person working on a robot&#10;&#10;Description automatically generated">
            <a:extLst>
              <a:ext uri="{FF2B5EF4-FFF2-40B4-BE49-F238E27FC236}">
                <a16:creationId xmlns:a16="http://schemas.microsoft.com/office/drawing/2014/main" id="{F5E0F847-7C34-312D-97F3-3A4B8689D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126" y="3422741"/>
            <a:ext cx="2874186" cy="191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43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48BE4-5084-18FF-B2E1-40652882D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5747-657C-28FB-213E-00054B1B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36884"/>
            <a:ext cx="9601200" cy="1082842"/>
          </a:xfrm>
        </p:spPr>
        <p:txBody>
          <a:bodyPr>
            <a:normAutofit/>
          </a:bodyPr>
          <a:lstStyle/>
          <a:p>
            <a:r>
              <a:rPr lang="en-US" sz="4400" dirty="0"/>
              <a:t>       Exploratory Study of Fairness Tools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027D2F-7EAC-EAF8-F994-3F345BA9C3A6}"/>
              </a:ext>
            </a:extLst>
          </p:cNvPr>
          <p:cNvSpPr/>
          <p:nvPr/>
        </p:nvSpPr>
        <p:spPr>
          <a:xfrm>
            <a:off x="1343525" y="5546555"/>
            <a:ext cx="10190747" cy="12753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fontAlgn="base"/>
            <a:r>
              <a:rPr lang="en-US" sz="1000" b="0" i="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</a:rPr>
              <a:t>​</a:t>
            </a:r>
            <a:endParaRPr lang="en-US" sz="1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</a:rPr>
              <a:t>[16].</a:t>
            </a:r>
            <a:r>
              <a:rPr lang="en-US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Wong, Richmond Y., Michael A. </a:t>
            </a:r>
            <a:r>
              <a:rPr lang="en-US" sz="10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Madaio</a:t>
            </a:r>
            <a:r>
              <a:rPr lang="en-US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and Nick Merrill. "Seeing like a toolkit: How toolkits envision the work of AI ethics." </a:t>
            </a:r>
            <a:r>
              <a:rPr lang="en-US" sz="10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ACM on Human-Computer Interaction</a:t>
            </a:r>
            <a:r>
              <a:rPr lang="en-US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7.CSCW1 (2023): 1-27.</a:t>
            </a:r>
            <a:r>
              <a:rPr lang="en-US" sz="1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  <a:endParaRPr lang="en-US" sz="1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[17] J. </a:t>
            </a:r>
            <a:r>
              <a:rPr lang="en-US" sz="10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Ayling</a:t>
            </a:r>
            <a:r>
              <a:rPr lang="en-US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and A. Chapman, “Putting ai ethics to work: are the tools fit for purpose?,” AI and Ethics, vol. 2, no. 3, pp. 405–429, 2022.</a:t>
            </a:r>
            <a:r>
              <a:rPr lang="en-US" sz="1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  <a:endParaRPr lang="en-US" sz="1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[18] T. Nguyen, M. T. </a:t>
            </a:r>
            <a:r>
              <a:rPr lang="en-US" sz="10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Baldassarre</a:t>
            </a:r>
            <a:r>
              <a:rPr lang="en-US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L. F. de Lima, and R. de Souza Santos, “From literature to practice: Exploring fairness testing tools for the</a:t>
            </a:r>
            <a:r>
              <a:rPr lang="en-US" sz="1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  <a:endParaRPr lang="en-US" sz="1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software industry adoption,” in Proceedings of the 18th ACM/IEEE International Symposium on Empirical Software Engineering and Measurement, pp. 549–555, 2024.</a:t>
            </a:r>
            <a:endParaRPr lang="en-US" sz="1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E4596-D9C0-8A8B-EC1C-81034B70C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A142B49E-7B94-1AF8-5F5F-73CE13897445}"/>
              </a:ext>
            </a:extLst>
          </p:cNvPr>
          <p:cNvSpPr/>
          <p:nvPr/>
        </p:nvSpPr>
        <p:spPr>
          <a:xfrm>
            <a:off x="1624263" y="1335505"/>
            <a:ext cx="3519238" cy="1756609"/>
          </a:xfrm>
          <a:prstGeom prst="cloud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 	</a:t>
            </a:r>
          </a:p>
          <a:p>
            <a:pPr algn="ctr"/>
            <a:r>
              <a:rPr lang="en-US" sz="1200" dirty="0"/>
              <a:t>A qualitative analysis of </a:t>
            </a:r>
            <a:r>
              <a:rPr lang="en-US" sz="1200" b="1" dirty="0"/>
              <a:t>AI ethics toolkits to examine </a:t>
            </a:r>
            <a:r>
              <a:rPr lang="en-US" sz="1200" b="1" dirty="0">
                <a:solidFill>
                  <a:schemeClr val="bg1"/>
                </a:solidFill>
              </a:rPr>
              <a:t>how ethical work is </a:t>
            </a:r>
            <a:r>
              <a:rPr lang="en-US" sz="1400" b="1" dirty="0">
                <a:solidFill>
                  <a:schemeClr val="tx1"/>
                </a:solidFill>
              </a:rPr>
              <a:t>conceptualized</a:t>
            </a:r>
            <a:r>
              <a:rPr lang="en-US" sz="1200" dirty="0"/>
              <a:t>, who is expected to </a:t>
            </a:r>
            <a:r>
              <a:rPr lang="en-US" sz="1400" b="1" dirty="0">
                <a:solidFill>
                  <a:schemeClr val="tx1"/>
                </a:solidFill>
              </a:rPr>
              <a:t>do it</a:t>
            </a:r>
            <a:r>
              <a:rPr lang="en-US" sz="1200" dirty="0"/>
              <a:t>, and how it is </a:t>
            </a:r>
            <a:r>
              <a:rPr lang="en-US" sz="1400" b="1" dirty="0">
                <a:solidFill>
                  <a:schemeClr val="tx1"/>
                </a:solidFill>
              </a:rPr>
              <a:t>supported</a:t>
            </a:r>
            <a:r>
              <a:rPr lang="en-US" sz="1200" dirty="0"/>
              <a:t> [16].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3514AE84-65A3-F8CC-00A4-A1A427F5F3BD}"/>
              </a:ext>
            </a:extLst>
          </p:cNvPr>
          <p:cNvSpPr/>
          <p:nvPr/>
        </p:nvSpPr>
        <p:spPr>
          <a:xfrm>
            <a:off x="4162925" y="2791327"/>
            <a:ext cx="3224337" cy="1756609"/>
          </a:xfrm>
          <a:prstGeom prst="cloud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Reviewed the </a:t>
            </a:r>
            <a:r>
              <a:rPr lang="en-US" sz="1200" b="1" dirty="0"/>
              <a:t>landscape of   existing ethical frameworks in terms of</a:t>
            </a:r>
            <a:r>
              <a:rPr lang="en-US" sz="1400" b="1" dirty="0"/>
              <a:t> </a:t>
            </a:r>
            <a:r>
              <a:rPr lang="en-US" sz="1400" b="1" dirty="0">
                <a:solidFill>
                  <a:schemeClr val="tx1"/>
                </a:solidFill>
              </a:rPr>
              <a:t>impact assessment &amp; audits </a:t>
            </a:r>
            <a:r>
              <a:rPr lang="en-US" sz="1200" dirty="0"/>
              <a:t>of the AI development and deployment lifecycle [17].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9190CE95-BEE9-876D-ECBE-BD6C1A3171E6}"/>
              </a:ext>
            </a:extLst>
          </p:cNvPr>
          <p:cNvSpPr/>
          <p:nvPr/>
        </p:nvSpPr>
        <p:spPr>
          <a:xfrm>
            <a:off x="6666297" y="1404382"/>
            <a:ext cx="3059781" cy="1597192"/>
          </a:xfrm>
          <a:prstGeom prst="cloud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Analyzed 41 fairness testing tools </a:t>
            </a:r>
            <a:r>
              <a:rPr lang="en-US" sz="1200" b="1" dirty="0">
                <a:latin typeface="Franklin Gothic Book" panose="020B0503020102020204" pitchFamily="34" charset="0"/>
              </a:rPr>
              <a:t>through heuristic evaluation </a:t>
            </a:r>
            <a:r>
              <a:rPr lang="en-US" sz="1200" dirty="0">
                <a:latin typeface="Franklin Gothic Book" panose="020B0503020102020204" pitchFamily="34" charset="0"/>
              </a:rPr>
              <a:t>to identify ones for  </a:t>
            </a:r>
            <a:r>
              <a:rPr lang="en-US" sz="1400" b="1" dirty="0">
                <a:solidFill>
                  <a:schemeClr val="tx1"/>
                </a:solidFill>
                <a:latin typeface="Franklin Gothic Book" panose="020B0503020102020204" pitchFamily="34" charset="0"/>
              </a:rPr>
              <a:t>industry suitability</a:t>
            </a:r>
            <a:r>
              <a:rPr lang="en-US" sz="1200" dirty="0">
                <a:latin typeface="Franklin Gothic Book" panose="020B0503020102020204" pitchFamily="34" charset="0"/>
              </a:rPr>
              <a:t>[18].</a:t>
            </a:r>
          </a:p>
          <a:p>
            <a:pPr algn="ctr"/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A589D97-30AA-ACDA-119D-16403979BE0E}"/>
              </a:ext>
            </a:extLst>
          </p:cNvPr>
          <p:cNvSpPr/>
          <p:nvPr/>
        </p:nvSpPr>
        <p:spPr>
          <a:xfrm>
            <a:off x="8373978" y="3197699"/>
            <a:ext cx="3059781" cy="87137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Author- driven evaluation of existing fairness tools in terms of successful adoption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F49AB1-4863-1F00-A80E-5D1BA93978AE}"/>
              </a:ext>
            </a:extLst>
          </p:cNvPr>
          <p:cNvPicPr>
            <a:picLocks noGrp="1"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4444662" y="4110790"/>
            <a:ext cx="1237347" cy="1756610"/>
          </a:xfrm>
        </p:spPr>
      </p:pic>
    </p:spTree>
    <p:extLst>
      <p:ext uri="{BB962C8B-B14F-4D97-AF65-F5344CB8AC3E}">
        <p14:creationId xmlns:p14="http://schemas.microsoft.com/office/powerpoint/2010/main" val="418141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B8A66-7CC4-E87C-C168-6123EA7DA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03F29-1917-3E8C-A213-A55ECA098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Despite the abundance of available tools, only a </a:t>
            </a:r>
            <a:r>
              <a:rPr lang="en-US" b="1" dirty="0"/>
              <a:t>limited</a:t>
            </a:r>
            <a:r>
              <a:rPr lang="en-US" dirty="0"/>
              <a:t> number </a:t>
            </a:r>
            <a:r>
              <a:rPr lang="en-US" b="1" dirty="0"/>
              <a:t>are practically usable.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Support for engaging with stakeholders from </a:t>
            </a:r>
            <a:r>
              <a:rPr lang="en-US" b="1" dirty="0"/>
              <a:t>non-technical background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Business </a:t>
            </a:r>
            <a:r>
              <a:rPr lang="en-US" dirty="0"/>
              <a:t>priorities for AI deployment across market tiers may 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/>
              <a:t>destabilize</a:t>
            </a:r>
            <a:r>
              <a:rPr lang="en-US" dirty="0"/>
              <a:t> practitioners’ goals for fairness 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2D074-8368-BAE2-3B6A-B1FE6BFC4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16</a:t>
            </a:fld>
            <a:endParaRPr lang="en-US" dirty="0"/>
          </a:p>
        </p:txBody>
      </p:sp>
      <p:pic>
        <p:nvPicPr>
          <p:cNvPr id="5" name="Content Placeholder 18" descr="A group of people working on a computer&#10;&#10;Description automatically generated">
            <a:extLst>
              <a:ext uri="{FF2B5EF4-FFF2-40B4-BE49-F238E27FC236}">
                <a16:creationId xmlns:a16="http://schemas.microsoft.com/office/drawing/2014/main" id="{6282DEF0-B7C8-EDE2-A16A-8CBBCEBB6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7663" y="4247388"/>
            <a:ext cx="3224337" cy="206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30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52996-F18C-709C-5B5F-23B703CF6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B4C1-6A22-4B2E-F084-0E68A1A73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0984"/>
            <a:ext cx="9095874" cy="729616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Taxonomy of Existing Literature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D53B31-8295-B5C9-11C4-F3AC81833B06}"/>
              </a:ext>
            </a:extLst>
          </p:cNvPr>
          <p:cNvSpPr/>
          <p:nvPr/>
        </p:nvSpPr>
        <p:spPr>
          <a:xfrm>
            <a:off x="5293511" y="1467853"/>
            <a:ext cx="2921795" cy="57751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Related Literature to Ethics &amp; Fairness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9F25FDA-A6C1-99E6-07A6-47E377B149F6}"/>
              </a:ext>
            </a:extLst>
          </p:cNvPr>
          <p:cNvCxnSpPr>
            <a:cxnSpLocks/>
          </p:cNvCxnSpPr>
          <p:nvPr/>
        </p:nvCxnSpPr>
        <p:spPr>
          <a:xfrm>
            <a:off x="6586538" y="2045368"/>
            <a:ext cx="0" cy="477253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CF96DE0-387A-5E3F-10C4-AF4038BA7330}"/>
              </a:ext>
            </a:extLst>
          </p:cNvPr>
          <p:cNvCxnSpPr>
            <a:cxnSpLocks/>
          </p:cNvCxnSpPr>
          <p:nvPr/>
        </p:nvCxnSpPr>
        <p:spPr>
          <a:xfrm>
            <a:off x="2986088" y="2522621"/>
            <a:ext cx="7772400" cy="0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FEC9856-1B88-DE10-F7CB-B644E91A6A50}"/>
              </a:ext>
            </a:extLst>
          </p:cNvPr>
          <p:cNvCxnSpPr>
            <a:cxnSpLocks/>
          </p:cNvCxnSpPr>
          <p:nvPr/>
        </p:nvCxnSpPr>
        <p:spPr>
          <a:xfrm>
            <a:off x="2986088" y="2522621"/>
            <a:ext cx="0" cy="620628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B4DCC90E-0A55-4413-8F89-78E421FDC6C3}"/>
              </a:ext>
            </a:extLst>
          </p:cNvPr>
          <p:cNvSpPr/>
          <p:nvPr/>
        </p:nvSpPr>
        <p:spPr>
          <a:xfrm>
            <a:off x="1785934" y="3143250"/>
            <a:ext cx="3014659" cy="728664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Ethics &amp; Fairness in Software Systems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BCABA65-7146-A0CA-3E83-12D4CF741151}"/>
              </a:ext>
            </a:extLst>
          </p:cNvPr>
          <p:cNvSpPr/>
          <p:nvPr/>
        </p:nvSpPr>
        <p:spPr>
          <a:xfrm>
            <a:off x="5293511" y="3143249"/>
            <a:ext cx="2614613" cy="72866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Ethics &amp; Fairness in AI driven Software System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49A61C9-1D91-CFCE-BD74-54D2D8D59D99}"/>
              </a:ext>
            </a:extLst>
          </p:cNvPr>
          <p:cNvCxnSpPr>
            <a:cxnSpLocks/>
          </p:cNvCxnSpPr>
          <p:nvPr/>
        </p:nvCxnSpPr>
        <p:spPr>
          <a:xfrm>
            <a:off x="6586538" y="2522621"/>
            <a:ext cx="0" cy="620627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75563ED0-32DD-A58F-F32F-96019F178141}"/>
              </a:ext>
            </a:extLst>
          </p:cNvPr>
          <p:cNvSpPr/>
          <p:nvPr/>
        </p:nvSpPr>
        <p:spPr>
          <a:xfrm>
            <a:off x="8834441" y="3143248"/>
            <a:ext cx="2724144" cy="72866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Conducted User Studies for Fair Software System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D09C2A3-2A42-DFBA-E237-CB8A97ADF8CC}"/>
              </a:ext>
            </a:extLst>
          </p:cNvPr>
          <p:cNvCxnSpPr>
            <a:cxnSpLocks/>
          </p:cNvCxnSpPr>
          <p:nvPr/>
        </p:nvCxnSpPr>
        <p:spPr>
          <a:xfrm>
            <a:off x="10758488" y="2522621"/>
            <a:ext cx="0" cy="620627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470224A-7D6D-EEC8-A587-4BE28E1C8D0E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3293264" y="3871914"/>
            <a:ext cx="0" cy="700086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FA0D9EE-0FAB-CA87-B061-E8E542C52CB2}"/>
              </a:ext>
            </a:extLst>
          </p:cNvPr>
          <p:cNvCxnSpPr>
            <a:cxnSpLocks/>
          </p:cNvCxnSpPr>
          <p:nvPr/>
        </p:nvCxnSpPr>
        <p:spPr>
          <a:xfrm>
            <a:off x="1900238" y="4572000"/>
            <a:ext cx="2614612" cy="0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5CB1E2C-7B28-EABB-4C8F-80E9F50BB0B2}"/>
              </a:ext>
            </a:extLst>
          </p:cNvPr>
          <p:cNvCxnSpPr>
            <a:cxnSpLocks/>
          </p:cNvCxnSpPr>
          <p:nvPr/>
        </p:nvCxnSpPr>
        <p:spPr>
          <a:xfrm>
            <a:off x="1900238" y="4572000"/>
            <a:ext cx="1" cy="757237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3A76DD31-5A96-E054-A972-4CBDFAD4A625}"/>
              </a:ext>
            </a:extLst>
          </p:cNvPr>
          <p:cNvSpPr/>
          <p:nvPr/>
        </p:nvSpPr>
        <p:spPr>
          <a:xfrm>
            <a:off x="871550" y="5329238"/>
            <a:ext cx="1871638" cy="132872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Practice &amp; Ignorance in Ethical Software Engineering</a:t>
            </a:r>
          </a:p>
          <a:p>
            <a:pPr algn="ctr"/>
            <a:endParaRPr lang="en-US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E07945C-6A07-398B-1011-BF7560288011}"/>
              </a:ext>
            </a:extLst>
          </p:cNvPr>
          <p:cNvSpPr/>
          <p:nvPr/>
        </p:nvSpPr>
        <p:spPr>
          <a:xfrm>
            <a:off x="3226701" y="5341152"/>
            <a:ext cx="1601748" cy="13048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 for Ethical Software Systems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0922262E-8150-E4A3-9A15-70214B2C8561}"/>
              </a:ext>
            </a:extLst>
          </p:cNvPr>
          <p:cNvCxnSpPr>
            <a:cxnSpLocks/>
          </p:cNvCxnSpPr>
          <p:nvPr/>
        </p:nvCxnSpPr>
        <p:spPr>
          <a:xfrm>
            <a:off x="4514850" y="4572000"/>
            <a:ext cx="0" cy="781051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9B2AF6B-23C2-43D0-99B5-F86248717F21}"/>
              </a:ext>
            </a:extLst>
          </p:cNvPr>
          <p:cNvSpPr/>
          <p:nvPr/>
        </p:nvSpPr>
        <p:spPr>
          <a:xfrm>
            <a:off x="5036338" y="5372073"/>
            <a:ext cx="1550200" cy="1267779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Fairness Principles in AI-Driven Software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8A27D8E-A4C3-3D52-8AC4-9BAD5651C8BE}"/>
              </a:ext>
            </a:extLst>
          </p:cNvPr>
          <p:cNvSpPr/>
          <p:nvPr/>
        </p:nvSpPr>
        <p:spPr>
          <a:xfrm>
            <a:off x="6827159" y="5359710"/>
            <a:ext cx="1550200" cy="126777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 for AI Fairness in Software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09E75C2-AC32-7286-7938-BD33E1478ECB}"/>
              </a:ext>
            </a:extLst>
          </p:cNvPr>
          <p:cNvSpPr/>
          <p:nvPr/>
        </p:nvSpPr>
        <p:spPr>
          <a:xfrm>
            <a:off x="8702982" y="5329237"/>
            <a:ext cx="1550200" cy="126777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study on Fairness Guidelines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90017DF-BC2B-C073-BB85-AFB8B60E84CD}"/>
              </a:ext>
            </a:extLst>
          </p:cNvPr>
          <p:cNvSpPr/>
          <p:nvPr/>
        </p:nvSpPr>
        <p:spPr>
          <a:xfrm>
            <a:off x="10545351" y="5338233"/>
            <a:ext cx="1550200" cy="1267779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User study on Fairness  Tools</a:t>
            </a:r>
          </a:p>
          <a:p>
            <a:pPr algn="ctr"/>
            <a:endParaRPr lang="en-US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7CD0D5D-2C79-CCE7-0991-40FC03BBE3EC}"/>
              </a:ext>
            </a:extLst>
          </p:cNvPr>
          <p:cNvCxnSpPr>
            <a:cxnSpLocks/>
          </p:cNvCxnSpPr>
          <p:nvPr/>
        </p:nvCxnSpPr>
        <p:spPr>
          <a:xfrm flipV="1">
            <a:off x="5371986" y="4581525"/>
            <a:ext cx="2521858" cy="33311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E30C7ACD-3B11-62D3-FD1D-FE3E9C53B867}"/>
              </a:ext>
            </a:extLst>
          </p:cNvPr>
          <p:cNvCxnSpPr>
            <a:cxnSpLocks/>
          </p:cNvCxnSpPr>
          <p:nvPr/>
        </p:nvCxnSpPr>
        <p:spPr>
          <a:xfrm>
            <a:off x="5371986" y="4614836"/>
            <a:ext cx="1" cy="757237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9D83DC6E-F12C-38D4-83CD-15387DFCB300}"/>
              </a:ext>
            </a:extLst>
          </p:cNvPr>
          <p:cNvCxnSpPr>
            <a:cxnSpLocks/>
          </p:cNvCxnSpPr>
          <p:nvPr/>
        </p:nvCxnSpPr>
        <p:spPr>
          <a:xfrm>
            <a:off x="7893844" y="4572000"/>
            <a:ext cx="0" cy="823887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F17E354-0F1D-8292-A05C-2494A1E3B329}"/>
              </a:ext>
            </a:extLst>
          </p:cNvPr>
          <p:cNvCxnSpPr>
            <a:cxnSpLocks/>
          </p:cNvCxnSpPr>
          <p:nvPr/>
        </p:nvCxnSpPr>
        <p:spPr>
          <a:xfrm>
            <a:off x="6632915" y="3871914"/>
            <a:ext cx="0" cy="700086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C4F8FEA2-5AAA-6092-245F-A02A0BA31026}"/>
              </a:ext>
            </a:extLst>
          </p:cNvPr>
          <p:cNvCxnSpPr>
            <a:cxnSpLocks/>
          </p:cNvCxnSpPr>
          <p:nvPr/>
        </p:nvCxnSpPr>
        <p:spPr>
          <a:xfrm>
            <a:off x="9472736" y="4595814"/>
            <a:ext cx="1971552" cy="2366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102DA54-6B1F-B318-CF82-DC1588D59A11}"/>
              </a:ext>
            </a:extLst>
          </p:cNvPr>
          <p:cNvCxnSpPr>
            <a:cxnSpLocks/>
          </p:cNvCxnSpPr>
          <p:nvPr/>
        </p:nvCxnSpPr>
        <p:spPr>
          <a:xfrm>
            <a:off x="9472736" y="4595814"/>
            <a:ext cx="0" cy="781036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AC4FF262-9130-8DC3-39F9-DC564ED10858}"/>
              </a:ext>
            </a:extLst>
          </p:cNvPr>
          <p:cNvCxnSpPr>
            <a:cxnSpLocks/>
          </p:cNvCxnSpPr>
          <p:nvPr/>
        </p:nvCxnSpPr>
        <p:spPr>
          <a:xfrm>
            <a:off x="11429636" y="4595814"/>
            <a:ext cx="1" cy="757237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4A08D690-16FD-7F9A-DDB3-A3D91E474A43}"/>
              </a:ext>
            </a:extLst>
          </p:cNvPr>
          <p:cNvCxnSpPr>
            <a:cxnSpLocks/>
          </p:cNvCxnSpPr>
          <p:nvPr/>
        </p:nvCxnSpPr>
        <p:spPr>
          <a:xfrm>
            <a:off x="10280509" y="3881439"/>
            <a:ext cx="0" cy="700086"/>
          </a:xfrm>
          <a:prstGeom prst="line">
            <a:avLst/>
          </a:prstGeom>
          <a:ln w="412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CB5DE1-39C1-6E1C-FFF1-89240E65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17</a:t>
            </a:fld>
            <a:endParaRPr lang="en-US" dirty="0"/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0FD3130C-33C5-40D3-4EE8-6ADDE7D12A5E}"/>
              </a:ext>
            </a:extLst>
          </p:cNvPr>
          <p:cNvSpPr/>
          <p:nvPr/>
        </p:nvSpPr>
        <p:spPr>
          <a:xfrm>
            <a:off x="9194587" y="2105753"/>
            <a:ext cx="484632" cy="9784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07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755E4-E2F1-5E7E-41E5-CB458997E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6378-D381-ED5F-CD79-F243CB5A2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336884"/>
            <a:ext cx="11020425" cy="1082842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 User Study on AI-Driven Fairness Guidelines</a:t>
            </a:r>
            <a:br>
              <a:rPr lang="en-US" sz="4400" dirty="0"/>
            </a:b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D09AF9-22B3-F413-4B25-38207CDFD2D8}"/>
              </a:ext>
            </a:extLst>
          </p:cNvPr>
          <p:cNvSpPr/>
          <p:nvPr/>
        </p:nvSpPr>
        <p:spPr>
          <a:xfrm>
            <a:off x="1122656" y="5546555"/>
            <a:ext cx="10190747" cy="12753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[19] D. G. </a:t>
            </a:r>
            <a:r>
              <a:rPr lang="en-US" sz="1000" dirty="0" err="1"/>
              <a:t>Widder</a:t>
            </a:r>
            <a:r>
              <a:rPr lang="en-US" sz="1000" dirty="0"/>
              <a:t>, D. </a:t>
            </a:r>
            <a:r>
              <a:rPr lang="en-US" sz="1000" dirty="0" err="1"/>
              <a:t>Nafus</a:t>
            </a:r>
            <a:r>
              <a:rPr lang="en-US" sz="1000" dirty="0"/>
              <a:t>, L. </a:t>
            </a:r>
            <a:r>
              <a:rPr lang="en-US" sz="1000" dirty="0" err="1"/>
              <a:t>Dabbish</a:t>
            </a:r>
            <a:r>
              <a:rPr lang="en-US" sz="1000" dirty="0"/>
              <a:t>, and J. </a:t>
            </a:r>
            <a:r>
              <a:rPr lang="en-US" sz="1000" dirty="0" err="1"/>
              <a:t>Herbsleb</a:t>
            </a:r>
            <a:r>
              <a:rPr lang="en-US" sz="1000" dirty="0"/>
              <a:t>, “Limits and possibilities for “ethical ai” in open source: A study of deepfakes,” in</a:t>
            </a:r>
          </a:p>
          <a:p>
            <a:r>
              <a:rPr lang="en-US" sz="1000" dirty="0"/>
              <a:t>Proceedings of the 2022 ACM Conference on Fairness, Accountability, and Transparency, pp. 2035–2046, 202</a:t>
            </a:r>
          </a:p>
          <a:p>
            <a:r>
              <a:rPr lang="en-US" sz="1000" dirty="0"/>
              <a:t>[20] N. Yildirim, M. </a:t>
            </a:r>
            <a:r>
              <a:rPr lang="en-US" sz="1000" dirty="0" err="1"/>
              <a:t>Pushkarna</a:t>
            </a:r>
            <a:r>
              <a:rPr lang="en-US" sz="1000" dirty="0"/>
              <a:t>, N. Goyal, M. Wattenberg, and F. </a:t>
            </a:r>
            <a:r>
              <a:rPr lang="en-US" sz="1000" dirty="0" err="1"/>
              <a:t>Vi´egas</a:t>
            </a:r>
            <a:r>
              <a:rPr lang="en-US" sz="1000" dirty="0"/>
              <a:t>, “Investigating how practitioners use human-ai guidelines: A case </a:t>
            </a:r>
            <a:r>
              <a:rPr lang="en-US" sz="1000" dirty="0" err="1"/>
              <a:t>studyon</a:t>
            </a:r>
            <a:r>
              <a:rPr lang="en-US" sz="1000" dirty="0"/>
              <a:t> the people+ ai guidebook,” in Proceedings of the 2023 CHI Conference on Human Factors in Computing Systems, pp. 1–13, 2023.</a:t>
            </a:r>
          </a:p>
          <a:p>
            <a:r>
              <a:rPr lang="en-US" sz="1000" dirty="0"/>
              <a:t>[21] [5] B. Johnson, C. Bird, D. Ford, N. </a:t>
            </a:r>
            <a:r>
              <a:rPr lang="en-US" sz="1000" dirty="0" err="1"/>
              <a:t>Forsgren</a:t>
            </a:r>
            <a:r>
              <a:rPr lang="en-US" sz="1000" dirty="0"/>
              <a:t>, and T. Zimmermann, “Make your tools sparkle with trust: The </a:t>
            </a:r>
            <a:r>
              <a:rPr lang="en-US" sz="1000" dirty="0" err="1"/>
              <a:t>picse</a:t>
            </a:r>
            <a:r>
              <a:rPr lang="en-US" sz="1000" dirty="0"/>
              <a:t> framework for trust in software</a:t>
            </a:r>
          </a:p>
          <a:p>
            <a:r>
              <a:rPr lang="en-US" sz="1000" dirty="0"/>
              <a:t>tools,” in 2023 IEEE/ACM 45th International Conference on Software Engineering: Software Engineering in Practice (ICSE-SEIP), pp. 409–419, IEEE, 2023.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18431-ACFC-C640-B09D-8975CD4A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FBC94F3C-28C5-B641-E573-2C892C6000E8}"/>
              </a:ext>
            </a:extLst>
          </p:cNvPr>
          <p:cNvSpPr/>
          <p:nvPr/>
        </p:nvSpPr>
        <p:spPr>
          <a:xfrm>
            <a:off x="1624263" y="1335505"/>
            <a:ext cx="3519238" cy="1756609"/>
          </a:xfrm>
          <a:prstGeom prst="cloud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 	</a:t>
            </a:r>
          </a:p>
          <a:p>
            <a:pPr algn="ctr"/>
            <a:r>
              <a:rPr lang="en-US" sz="1200" dirty="0"/>
              <a:t>Reveal </a:t>
            </a:r>
            <a:r>
              <a:rPr lang="en-US" sz="1200" b="1" dirty="0"/>
              <a:t>open-source ethical </a:t>
            </a:r>
            <a:r>
              <a:rPr lang="en-US" sz="1200" dirty="0"/>
              <a:t>concerns surrounding deepfake technology, particularly regarding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misuse </a:t>
            </a:r>
            <a:r>
              <a:rPr lang="en-US" sz="1200" dirty="0">
                <a:solidFill>
                  <a:schemeClr val="bg2"/>
                </a:solidFill>
              </a:rPr>
              <a:t>and the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challenges of regulation</a:t>
            </a:r>
            <a:r>
              <a:rPr lang="en-US" sz="1200" dirty="0"/>
              <a:t>[19]</a:t>
            </a:r>
          </a:p>
          <a:p>
            <a:pPr algn="ctr"/>
            <a:endParaRPr lang="en-US" sz="1200" dirty="0"/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A3EC467D-82B4-A034-B3A2-7B2B97800AAE}"/>
              </a:ext>
            </a:extLst>
          </p:cNvPr>
          <p:cNvSpPr/>
          <p:nvPr/>
        </p:nvSpPr>
        <p:spPr>
          <a:xfrm>
            <a:off x="4211053" y="2847468"/>
            <a:ext cx="3519239" cy="1756609"/>
          </a:xfrm>
          <a:prstGeom prst="cloud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Investigated </a:t>
            </a:r>
            <a:r>
              <a:rPr lang="en-US" sz="1200" b="1" dirty="0" err="1">
                <a:solidFill>
                  <a:schemeClr val="bg1">
                    <a:lumMod val="95000"/>
                  </a:schemeClr>
                </a:solidFill>
              </a:rPr>
              <a:t>Human+AI</a:t>
            </a:r>
            <a:r>
              <a:rPr lang="en-US" sz="1200" b="1" dirty="0">
                <a:solidFill>
                  <a:schemeClr val="bg1">
                    <a:lumMod val="95000"/>
                  </a:schemeClr>
                </a:solidFill>
              </a:rPr>
              <a:t> Guidelines</a:t>
            </a:r>
            <a:r>
              <a:rPr lang="en-US" sz="1200" dirty="0"/>
              <a:t> for </a:t>
            </a:r>
            <a:r>
              <a:rPr lang="en-US" sz="1400" b="1" dirty="0">
                <a:solidFill>
                  <a:schemeClr val="tx1"/>
                </a:solidFill>
              </a:rPr>
              <a:t>building human centered AI culture</a:t>
            </a:r>
            <a:r>
              <a:rPr lang="en-US" sz="1200" dirty="0"/>
              <a:t>, and their usage[20]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3D7E61B7-4EB2-C8D5-E0A1-95FD80C3EDAE}"/>
              </a:ext>
            </a:extLst>
          </p:cNvPr>
          <p:cNvSpPr/>
          <p:nvPr/>
        </p:nvSpPr>
        <p:spPr>
          <a:xfrm>
            <a:off x="6096000" y="1153024"/>
            <a:ext cx="4118811" cy="1756609"/>
          </a:xfrm>
          <a:prstGeom prst="cloud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Interviews with professionals about </a:t>
            </a:r>
            <a:r>
              <a:rPr lang="en-US" sz="1200" b="1" dirty="0"/>
              <a:t>both </a:t>
            </a:r>
            <a:r>
              <a:rPr lang="en-US" sz="1200" dirty="0"/>
              <a:t>traditional and AI-assisted software tools, discussing how trust is established in relation to five key dimensions: </a:t>
            </a:r>
            <a:r>
              <a:rPr lang="en-US" sz="1400" b="1" dirty="0">
                <a:solidFill>
                  <a:schemeClr val="tx1"/>
                </a:solidFill>
              </a:rPr>
              <a:t>Personal, Interaction, Control, System, and Expectations</a:t>
            </a:r>
            <a:r>
              <a:rPr lang="en-US" sz="1200" dirty="0"/>
              <a:t>[21].</a:t>
            </a:r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8DB1D18-5945-9857-2E03-0701DB99930F}"/>
              </a:ext>
            </a:extLst>
          </p:cNvPr>
          <p:cNvSpPr/>
          <p:nvPr/>
        </p:nvSpPr>
        <p:spPr>
          <a:xfrm>
            <a:off x="8410074" y="3139475"/>
            <a:ext cx="3519239" cy="91717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Shows user studies in AI ethics guidelines for software systems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D0BBF9-B9F9-2B78-F4AB-645688603FB4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3472160" y="5867400"/>
            <a:ext cx="97536" cy="653716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919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4EA00-B9F0-31BF-F64E-900DA254E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Implication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AD579-9C5A-9BB5-8383-425BBA0AC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Community's understanding of ethics is influenced by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"Freedom 0"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which allows unrestricted use of code, and by beliefs in technological neutrality.</a:t>
            </a:r>
          </a:p>
          <a:p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ractitioners use the guidebook not only for addressing AI’s design challenges, but also for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education, cross-functional communication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ractitioners desire more support for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early phase  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ethical problem formulation</a:t>
            </a:r>
          </a:p>
          <a:p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It might be more difficult to develop a 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trustworthy AI-assisted tool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 in comparison to 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traditional software tools.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sz="18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568FD-7AD8-D332-0DA8-A7DF0B2C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19</a:t>
            </a:fld>
            <a:endParaRPr lang="en-US" dirty="0"/>
          </a:p>
        </p:txBody>
      </p:sp>
      <p:pic>
        <p:nvPicPr>
          <p:cNvPr id="5" name="Content Placeholder 10" descr="A group of people looking at a magnifying glass&#10;&#10;Description automatically generated">
            <a:extLst>
              <a:ext uri="{FF2B5EF4-FFF2-40B4-BE49-F238E27FC236}">
                <a16:creationId xmlns:a16="http://schemas.microsoft.com/office/drawing/2014/main" id="{3A9F9514-A669-DB82-E564-8FC96D455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039" y="4392764"/>
            <a:ext cx="2892342" cy="158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4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97649-1691-0541-C9CD-3CBD4BF5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00216-4AD7-8B26-06C3-E256F31B4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371517"/>
            <a:ext cx="9601200" cy="818147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        User Study on AI-Driven Fairness Tools</a:t>
            </a:r>
            <a:br>
              <a:rPr lang="en-US" sz="4400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2D25A3-04CA-D374-85BE-FE3ABC85E225}"/>
              </a:ext>
            </a:extLst>
          </p:cNvPr>
          <p:cNvSpPr/>
          <p:nvPr/>
        </p:nvSpPr>
        <p:spPr>
          <a:xfrm>
            <a:off x="858253" y="5089358"/>
            <a:ext cx="11065042" cy="13475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[22] M. S. A. Lee and J. Singh, “The landscape and gaps in open source fairness toolkits,” in Proceedings of the 2021 CHI conference on human factors in computing systems, pp. 1–13, 2021</a:t>
            </a:r>
          </a:p>
          <a:p>
            <a:r>
              <a:rPr lang="en-US" sz="1000" dirty="0"/>
              <a:t>[23] W. H. Deng, M. </a:t>
            </a:r>
            <a:r>
              <a:rPr lang="en-US" sz="1000" dirty="0" err="1"/>
              <a:t>Nagireddy</a:t>
            </a:r>
            <a:r>
              <a:rPr lang="en-US" sz="1000" dirty="0"/>
              <a:t>, M. S. A. Lee, J. Singh, Z. S. Wu, K. Holstein, and H. Zhu, “Exploring how machine learning practitioners (try to) use fairness toolkits,” in Proceedings of the 2022 ACM Conference on Fairness, Accountability, and Transparency, pp. 473–484, 2022.</a:t>
            </a:r>
          </a:p>
          <a:p>
            <a:r>
              <a:rPr lang="en-US" sz="1000" dirty="0"/>
              <a:t>[24] B. Richardson, J. Garcia-</a:t>
            </a:r>
            <a:r>
              <a:rPr lang="en-US" sz="1000" dirty="0" err="1"/>
              <a:t>Gathright</a:t>
            </a:r>
            <a:r>
              <a:rPr lang="en-US" sz="1000" dirty="0"/>
              <a:t>, S. F. Way, J. Thom, and H. Cramer, “Towards fairness in practice: A practitioner-oriented rubric for evaluating fair ml toolkits,” in Proceedings of the 2021 CHI Conference </a:t>
            </a:r>
            <a:r>
              <a:rPr lang="en-US" sz="1000" dirty="0" err="1"/>
              <a:t>onHuman</a:t>
            </a:r>
            <a:r>
              <a:rPr lang="en-US" sz="1000" dirty="0"/>
              <a:t> Factors in Computing Systems, pp. 1–13, 2021</a:t>
            </a:r>
          </a:p>
          <a:p>
            <a:r>
              <a:rPr lang="en-US" sz="1000" dirty="0"/>
              <a:t>[25] M. </a:t>
            </a:r>
            <a:r>
              <a:rPr lang="en-US" sz="1000" dirty="0" err="1"/>
              <a:t>Madaio</a:t>
            </a:r>
            <a:r>
              <a:rPr lang="en-US" sz="1000" dirty="0"/>
              <a:t>, L. </a:t>
            </a:r>
            <a:r>
              <a:rPr lang="en-US" sz="1000" dirty="0" err="1"/>
              <a:t>Egede</a:t>
            </a:r>
            <a:r>
              <a:rPr lang="en-US" sz="1000" dirty="0"/>
              <a:t>, H. </a:t>
            </a:r>
            <a:r>
              <a:rPr lang="en-US" sz="1000" dirty="0" err="1"/>
              <a:t>Subramonyam</a:t>
            </a:r>
            <a:r>
              <a:rPr lang="en-US" sz="1000" dirty="0"/>
              <a:t>, J. Wortman Vaughan, and H. Wallach, “Assessing the fairness of ai systems: Ai practitioners’ processes, challenges, and needs for support,” Proceedings of the ACM on Human-Computer Interaction, vol. 6, no. CSCW1, pp. 1–26, 2022.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C3449F-63F6-C7DA-3586-6D63741E7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0CA80D6D-417E-15A1-34E5-CCB9F8B4BBC8}"/>
              </a:ext>
            </a:extLst>
          </p:cNvPr>
          <p:cNvSpPr/>
          <p:nvPr/>
        </p:nvSpPr>
        <p:spPr>
          <a:xfrm>
            <a:off x="2144629" y="1413665"/>
            <a:ext cx="3033964" cy="1654393"/>
          </a:xfrm>
          <a:prstGeom prst="cloud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Showed </a:t>
            </a:r>
            <a:r>
              <a:rPr lang="en-US" sz="1400" b="1" dirty="0">
                <a:solidFill>
                  <a:schemeClr val="tx1"/>
                </a:solidFill>
              </a:rPr>
              <a:t>comparative analysis of 6 prominent Fairness tools</a:t>
            </a:r>
            <a:r>
              <a:rPr lang="en-US" sz="1400" b="1" dirty="0"/>
              <a:t> </a:t>
            </a:r>
            <a:r>
              <a:rPr lang="en-US" sz="1200" dirty="0"/>
              <a:t>&amp; identifying gaps in the landscape of existing tools[22]. </a:t>
            </a:r>
          </a:p>
          <a:p>
            <a:pPr algn="ctr"/>
            <a:endParaRPr lang="en-US" dirty="0"/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2205BEB1-D63B-565B-1FE1-422A6387000F}"/>
              </a:ext>
            </a:extLst>
          </p:cNvPr>
          <p:cNvSpPr/>
          <p:nvPr/>
        </p:nvSpPr>
        <p:spPr>
          <a:xfrm>
            <a:off x="2328862" y="3068058"/>
            <a:ext cx="3622760" cy="2021300"/>
          </a:xfrm>
          <a:prstGeom prst="cloud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On the findings from [22], the study focused on two leading toolkits to explore </a:t>
            </a:r>
            <a:r>
              <a:rPr lang="en-US" sz="1200" dirty="0">
                <a:solidFill>
                  <a:schemeClr val="bg2"/>
                </a:solidFill>
              </a:rPr>
              <a:t>how industry professionals incorporate them into their workflows </a:t>
            </a:r>
            <a:r>
              <a:rPr lang="en-US" sz="1200" dirty="0"/>
              <a:t>and </a:t>
            </a:r>
            <a:r>
              <a:rPr lang="en-US" sz="1400" b="1" dirty="0">
                <a:solidFill>
                  <a:schemeClr val="tx1"/>
                </a:solidFill>
              </a:rPr>
              <a:t>what they expect</a:t>
            </a:r>
            <a:r>
              <a:rPr lang="en-US" sz="1200" dirty="0"/>
              <a:t> from such tools23]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CD1B9ABD-2538-6522-F52B-7495B61BD3C3}"/>
              </a:ext>
            </a:extLst>
          </p:cNvPr>
          <p:cNvSpPr/>
          <p:nvPr/>
        </p:nvSpPr>
        <p:spPr>
          <a:xfrm>
            <a:off x="5178593" y="1430298"/>
            <a:ext cx="3159291" cy="1637760"/>
          </a:xfrm>
          <a:prstGeom prst="cloud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Evaluated Fairness toolkits in terms of </a:t>
            </a:r>
            <a:r>
              <a:rPr lang="en-US" sz="1200" dirty="0">
                <a:solidFill>
                  <a:schemeClr val="bg1"/>
                </a:solidFill>
              </a:rPr>
              <a:t>criteria for </a:t>
            </a:r>
            <a:r>
              <a:rPr lang="en-US" sz="1400" b="1" dirty="0">
                <a:solidFill>
                  <a:schemeClr val="tx1"/>
                </a:solidFill>
              </a:rPr>
              <a:t>supporting fairness analysis</a:t>
            </a:r>
            <a:r>
              <a:rPr lang="en-US" sz="1400" b="1" dirty="0"/>
              <a:t> </a:t>
            </a:r>
            <a:r>
              <a:rPr lang="en-US" sz="1200" dirty="0"/>
              <a:t>&amp; </a:t>
            </a:r>
            <a:r>
              <a:rPr lang="en-US" sz="1400" b="1" dirty="0">
                <a:solidFill>
                  <a:schemeClr val="tx1"/>
                </a:solidFill>
              </a:rPr>
              <a:t>optimal tooling </a:t>
            </a:r>
            <a:r>
              <a:rPr lang="en-US" sz="1200" dirty="0"/>
              <a:t>with their proposed rubric[24].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9B76D998-71F4-2AE3-E231-CAA488022111}"/>
              </a:ext>
            </a:extLst>
          </p:cNvPr>
          <p:cNvSpPr/>
          <p:nvPr/>
        </p:nvSpPr>
        <p:spPr>
          <a:xfrm>
            <a:off x="6095999" y="3084690"/>
            <a:ext cx="3159291" cy="1832219"/>
          </a:xfrm>
          <a:prstGeom prst="cloud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Discussed AI practitioners  challenges in </a:t>
            </a:r>
            <a:r>
              <a:rPr lang="en-US" sz="1200" b="1" dirty="0"/>
              <a:t>fairness evaluation</a:t>
            </a:r>
            <a:r>
              <a:rPr lang="en-US" sz="1200" dirty="0"/>
              <a:t>,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needing improved frameworks, support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1200" dirty="0"/>
              <a:t>and resources[25].</a:t>
            </a:r>
          </a:p>
        </p:txBody>
      </p: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D0FAE524-0574-FD70-034C-85FD17295343}"/>
              </a:ext>
            </a:extLst>
          </p:cNvPr>
          <p:cNvCxnSpPr>
            <a:cxnSpLocks/>
            <a:stCxn id="6" idx="2"/>
          </p:cNvCxnSpPr>
          <p:nvPr/>
        </p:nvCxnSpPr>
        <p:spPr>
          <a:xfrm rot="10800000" flipH="1" flipV="1">
            <a:off x="2154039" y="2240861"/>
            <a:ext cx="389637" cy="1549081"/>
          </a:xfrm>
          <a:prstGeom prst="curvedConnector4">
            <a:avLst>
              <a:gd name="adj1" fmla="val -58670"/>
              <a:gd name="adj2" fmla="val 76700"/>
            </a:avLst>
          </a:prstGeom>
          <a:ln w="539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84E9415-5A83-6D89-BFB7-D046FB0E6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328863" y="2271712"/>
            <a:ext cx="1074955" cy="192148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2E8DFF7-E5AB-3931-9B21-41070D092CF2}"/>
              </a:ext>
            </a:extLst>
          </p:cNvPr>
          <p:cNvSpPr/>
          <p:nvPr/>
        </p:nvSpPr>
        <p:spPr>
          <a:xfrm>
            <a:off x="9377096" y="3789943"/>
            <a:ext cx="2705176" cy="100151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studies for comparative analysis &amp; practitioner challenges of fairness tools</a:t>
            </a:r>
          </a:p>
        </p:txBody>
      </p:sp>
    </p:spTree>
    <p:extLst>
      <p:ext uri="{BB962C8B-B14F-4D97-AF65-F5344CB8AC3E}">
        <p14:creationId xmlns:p14="http://schemas.microsoft.com/office/powerpoint/2010/main" val="232398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3A3DA-28FC-C439-6935-EFA1292FA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Implication</a:t>
            </a:r>
          </a:p>
        </p:txBody>
      </p:sp>
      <p:pic>
        <p:nvPicPr>
          <p:cNvPr id="6" name="Content Placeholder 5" descr="A group of people working on a computer&#10;&#10;Description automatically generated">
            <a:extLst>
              <a:ext uri="{FF2B5EF4-FFF2-40B4-BE49-F238E27FC236}">
                <a16:creationId xmlns:a16="http://schemas.microsoft.com/office/drawing/2014/main" id="{98E2E99E-80E3-2954-5D1A-C52C5EF87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61247" y="3428999"/>
            <a:ext cx="3436789" cy="302895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5B035-9D6E-8CBB-E41A-8921D4463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31E009-981E-C957-424E-4BCFF619CE45}"/>
              </a:ext>
            </a:extLst>
          </p:cNvPr>
          <p:cNvSpPr txBox="1"/>
          <p:nvPr/>
        </p:nvSpPr>
        <p:spPr>
          <a:xfrm>
            <a:off x="1633727" y="1962912"/>
            <a:ext cx="68275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Steep learning curve </a:t>
            </a:r>
            <a:r>
              <a:rPr lang="en-US" dirty="0"/>
              <a:t>to use the toolkits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scope for integrating tools in </a:t>
            </a:r>
            <a:r>
              <a:rPr lang="en-US" b="1" dirty="0"/>
              <a:t>“Plug &amp; Play”</a:t>
            </a:r>
            <a:r>
              <a:rPr lang="en-US" dirty="0"/>
              <a:t> manner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support for </a:t>
            </a:r>
            <a:r>
              <a:rPr lang="en-US" b="1" dirty="0"/>
              <a:t>fostering collaboration </a:t>
            </a:r>
            <a:r>
              <a:rPr lang="en-US" dirty="0"/>
              <a:t>with </a:t>
            </a:r>
            <a:r>
              <a:rPr lang="en-US" b="1" dirty="0"/>
              <a:t>non-technical peers</a:t>
            </a:r>
            <a:r>
              <a:rPr lang="en-US" dirty="0"/>
              <a:t> in their organizational settings.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tools can be a good source for </a:t>
            </a:r>
            <a:r>
              <a:rPr lang="en-US" b="1" dirty="0"/>
              <a:t>learning</a:t>
            </a:r>
            <a:r>
              <a:rPr lang="en-US" dirty="0"/>
              <a:t> about </a:t>
            </a:r>
            <a:r>
              <a:rPr lang="en-US" b="1" dirty="0"/>
              <a:t>ML fairness concepts and terminologies.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729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17185</TotalTime>
  <Words>2776</Words>
  <Application>Microsoft Macintosh PowerPoint</Application>
  <PresentationFormat>Widescreen</PresentationFormat>
  <Paragraphs>220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Franklin Gothic Book</vt:lpstr>
      <vt:lpstr>Segoe UI</vt:lpstr>
      <vt:lpstr>Crop</vt:lpstr>
      <vt:lpstr>Exploring the Landscape of Fairness Interventions in Software Engineering</vt:lpstr>
      <vt:lpstr>                             Introduction</vt:lpstr>
      <vt:lpstr>     Background: Bias in AI-Driven Software Systems</vt:lpstr>
      <vt:lpstr>         Background:  Fairness VS Ethics</vt:lpstr>
      <vt:lpstr> Background: Fairness Principles in AI-Driven Software</vt:lpstr>
      <vt:lpstr>Background: Open Source Fairness Tools</vt:lpstr>
      <vt:lpstr>                    Taxonomy of Existing Literature</vt:lpstr>
      <vt:lpstr>          Practice of Fairness &amp; Ethics in Software </vt:lpstr>
      <vt:lpstr>                         Implications</vt:lpstr>
      <vt:lpstr>    Testing Tools for Ethical Software Development</vt:lpstr>
      <vt:lpstr>                    Taxonomy of Existing Literature</vt:lpstr>
      <vt:lpstr>         Fairness in AI-Driven Software Systems</vt:lpstr>
      <vt:lpstr>                     Implications</vt:lpstr>
      <vt:lpstr>         Example of AI-Driven Fairness Tools</vt:lpstr>
      <vt:lpstr>       Exploratory Study of Fairness Tools</vt:lpstr>
      <vt:lpstr>                     Implications</vt:lpstr>
      <vt:lpstr>                    Taxonomy of Existing Literature</vt:lpstr>
      <vt:lpstr> User Study on AI-Driven Fairness Guidelines </vt:lpstr>
      <vt:lpstr>                       Implication</vt:lpstr>
      <vt:lpstr>        User Study on AI-Driven Fairness Tools </vt:lpstr>
      <vt:lpstr>                         Implication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Sadia Afrin</dc:creator>
  <cp:lastModifiedBy>Sadia Afrin</cp:lastModifiedBy>
  <cp:revision>302</cp:revision>
  <dcterms:created xsi:type="dcterms:W3CDTF">2025-04-03T03:32:24Z</dcterms:created>
  <dcterms:modified xsi:type="dcterms:W3CDTF">2026-10-17T21:23:28Z</dcterms:modified>
</cp:coreProperties>
</file>