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3"/>
  </p:notesMasterIdLst>
  <p:sldIdLst>
    <p:sldId id="257" r:id="rId2"/>
    <p:sldId id="259" r:id="rId3"/>
    <p:sldId id="264" r:id="rId4"/>
    <p:sldId id="263" r:id="rId5"/>
    <p:sldId id="265" r:id="rId6"/>
    <p:sldId id="271" r:id="rId7"/>
    <p:sldId id="266" r:id="rId8"/>
    <p:sldId id="256" r:id="rId9"/>
    <p:sldId id="273" r:id="rId10"/>
    <p:sldId id="272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2" dt="2026-09-22T02:29:44.916"/>
    <p1510:client id="{341437E4-37CB-EEBD-8D39-F34875A172B3}" v="1301" dt="2026-09-22T02:06:16.572"/>
    <p1510:client id="{51BDE32D-06C1-9844-A443-6E29E314D208}" v="1262" dt="2026-09-22T20:22:30.994"/>
    <p1510:client id="{57F49DEB-503F-C714-E0B1-A1362DB0B91F}" v="469" dt="2026-09-22T14:58:26.178"/>
    <p1510:client id="{7EED6EF4-84BD-A8CE-BAD7-A3945768F247}" v="92" dt="2026-09-22T18:04:45.5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84"/>
  </p:normalViewPr>
  <p:slideViewPr>
    <p:cSldViewPr snapToGrid="0">
      <p:cViewPr varScale="1">
        <p:scale>
          <a:sx n="106" d="100"/>
          <a:sy n="106" d="100"/>
        </p:scale>
        <p:origin x="7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0577E1-3D6D-A840-86EE-C9A88C852610}" type="datetimeFigureOut">
              <a:rPr lang="en-US" smtClean="0"/>
              <a:t>10/17/26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116202-2C6C-7847-BA02-4F8C15FDC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643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01006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40740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29835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159051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87768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251410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421801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80237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90775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633334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951516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04904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090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3" descr="A colorful light bulb with business icons">
            <a:extLst>
              <a:ext uri="{FF2B5EF4-FFF2-40B4-BE49-F238E27FC236}">
                <a16:creationId xmlns:a16="http://schemas.microsoft.com/office/drawing/2014/main" id="{947D5577-A44F-4502-574F-E38CB7A5D8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t="9631" r="-1" b="9781"/>
          <a:stretch/>
        </p:blipFill>
        <p:spPr>
          <a:xfrm>
            <a:off x="20" y="-1"/>
            <a:ext cx="12189789" cy="6873457"/>
          </a:xfrm>
          <a:prstGeom prst="rect">
            <a:avLst/>
          </a:prstGeom>
          <a:ln w="12700"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7020" y="2230401"/>
            <a:ext cx="10897761" cy="2316390"/>
          </a:xfrm>
        </p:spPr>
        <p:txBody>
          <a:bodyPr anchor="t">
            <a:normAutofit/>
          </a:bodyPr>
          <a:lstStyle/>
          <a:p>
            <a:r>
              <a:rPr lang="en-US" sz="8000" b="1" dirty="0">
                <a:solidFill>
                  <a:srgbClr val="FFFFFF"/>
                </a:solidFill>
                <a:latin typeface="MRF LEMONBERRY SANS"/>
              </a:rPr>
              <a:t>Testing Software for Bias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293" y="4425813"/>
            <a:ext cx="12099516" cy="2272483"/>
          </a:xfrm>
        </p:spPr>
        <p:txBody>
          <a:bodyPr anchor="b">
            <a:normAutofit/>
          </a:bodyPr>
          <a:lstStyle/>
          <a:p>
            <a:pPr algn="l"/>
            <a:r>
              <a:rPr lang="en-US" sz="2400" b="1" dirty="0">
                <a:solidFill>
                  <a:srgbClr val="FFFFFF"/>
                </a:solidFill>
                <a:latin typeface="Aptos" panose="020B0004020202020204" pitchFamily="34" charset="0"/>
              </a:rPr>
              <a:t>Ethics &amp; Equity in Software Engineering</a:t>
            </a:r>
            <a:endParaRPr lang="en-US" b="1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B2E3A0D-150A-2889-C2D2-434A8E299DA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RF LEMONBERRY SANS" panose="02000603000000000000" pitchFamily="2" charset="0"/>
                <a:ea typeface="MRF LEMONBERRY SANS" panose="02000603000000000000" pitchFamily="2" charset="0"/>
                <a:cs typeface="+mj-cs"/>
              </a:rPr>
              <a:t>Software engineers have power. 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47D330FD-AA08-EB3D-48F8-25E229417E22}"/>
              </a:ext>
            </a:extLst>
          </p:cNvPr>
          <p:cNvSpPr txBox="1">
            <a:spLocks/>
          </p:cNvSpPr>
          <p:nvPr/>
        </p:nvSpPr>
        <p:spPr>
          <a:xfrm>
            <a:off x="838200" y="1929384"/>
            <a:ext cx="10515600" cy="42519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400" b="1" spc="-65">
                <a:solidFill>
                  <a:schemeClr val="tx1"/>
                </a:solidFill>
                <a:latin typeface="Aptos" panose="020B0004020202020204" pitchFamily="34" charset="0"/>
                <a:cs typeface="Arial Narrow"/>
              </a:rPr>
              <a:t>Software</a:t>
            </a:r>
            <a:r>
              <a:rPr lang="en-US" sz="2400" b="1" spc="-25">
                <a:solidFill>
                  <a:schemeClr val="tx1"/>
                </a:solidFill>
                <a:latin typeface="Aptos" panose="020B0004020202020204" pitchFamily="34" charset="0"/>
                <a:cs typeface="Arial Narrow"/>
              </a:rPr>
              <a:t> </a:t>
            </a:r>
            <a:r>
              <a:rPr lang="en-US" sz="2400" b="1">
                <a:solidFill>
                  <a:schemeClr val="tx1"/>
                </a:solidFill>
                <a:latin typeface="Aptos" panose="020B0004020202020204" pitchFamily="34" charset="0"/>
                <a:cs typeface="Arial Narrow"/>
              </a:rPr>
              <a:t>is</a:t>
            </a:r>
            <a:r>
              <a:rPr lang="en-US" sz="2400" b="1" spc="-20">
                <a:solidFill>
                  <a:schemeClr val="tx1"/>
                </a:solidFill>
                <a:latin typeface="Aptos" panose="020B0004020202020204" pitchFamily="34" charset="0"/>
                <a:cs typeface="Arial Narrow"/>
              </a:rPr>
              <a:t> </a:t>
            </a:r>
            <a:r>
              <a:rPr lang="en-US" sz="2400" b="1" spc="-10">
                <a:solidFill>
                  <a:schemeClr val="tx1"/>
                </a:solidFill>
                <a:latin typeface="Aptos" panose="020B0004020202020204" pitchFamily="34" charset="0"/>
                <a:cs typeface="Arial Narrow"/>
              </a:rPr>
              <a:t>everywhere.</a:t>
            </a:r>
            <a:endParaRPr lang="en-US" sz="2400" b="1">
              <a:solidFill>
                <a:schemeClr val="tx1"/>
              </a:solidFill>
              <a:latin typeface="Aptos" panose="020B0004020202020204" pitchFamily="34" charset="0"/>
              <a:cs typeface="Arial Narrow"/>
            </a:endParaRPr>
          </a:p>
          <a:p>
            <a:pPr>
              <a:lnSpc>
                <a:spcPct val="100000"/>
              </a:lnSpc>
              <a:spcBef>
                <a:spcPts val="1515"/>
              </a:spcBef>
            </a:pPr>
            <a:endParaRPr lang="en-US" sz="2400">
              <a:solidFill>
                <a:schemeClr val="tx1"/>
              </a:solidFill>
              <a:latin typeface="Aptos Light" panose="020B0004020202020204" pitchFamily="34" charset="0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lang="en-US" sz="240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As</a:t>
            </a:r>
            <a:r>
              <a:rPr lang="en-US" sz="2400" spc="-10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z="240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builders</a:t>
            </a:r>
            <a:r>
              <a:rPr lang="en-US" sz="2400" spc="-85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z="240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of</a:t>
            </a:r>
            <a:r>
              <a:rPr lang="en-US" sz="2400" spc="-9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z="2400" spc="-45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technology,</a:t>
            </a:r>
            <a:r>
              <a:rPr lang="en-US" sz="2400" spc="-9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z="2400" spc="-3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we</a:t>
            </a:r>
            <a:r>
              <a:rPr lang="en-US" sz="2400" spc="-85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have</a:t>
            </a:r>
            <a:r>
              <a:rPr lang="en-US" sz="2400" spc="-75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z="2400" spc="-2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power</a:t>
            </a:r>
            <a:r>
              <a:rPr lang="en-US" sz="2400" spc="-85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z="240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to</a:t>
            </a:r>
            <a:r>
              <a:rPr lang="en-US" sz="2400" spc="-95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z="2400" spc="-25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influence</a:t>
            </a:r>
            <a:r>
              <a:rPr lang="en-US" sz="2400" spc="-85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z="240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a</a:t>
            </a:r>
            <a:r>
              <a:rPr lang="en-US" sz="2400" spc="-95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z="2400" spc="-25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lot…</a:t>
            </a:r>
            <a:endParaRPr lang="en-US" sz="2400">
              <a:solidFill>
                <a:schemeClr val="tx1"/>
              </a:solidFill>
              <a:latin typeface="Aptos Light" panose="020B0004020202020204" pitchFamily="34" charset="0"/>
              <a:cs typeface="Arial Narrow"/>
            </a:endParaRPr>
          </a:p>
          <a:p>
            <a:pPr marL="469265" indent="-456565">
              <a:lnSpc>
                <a:spcPct val="100000"/>
              </a:lnSpc>
              <a:spcBef>
                <a:spcPts val="735"/>
              </a:spcBef>
              <a:buFont typeface="Arial"/>
              <a:buChar char="-"/>
              <a:tabLst>
                <a:tab pos="469265" algn="l"/>
              </a:tabLst>
            </a:pPr>
            <a:r>
              <a:rPr lang="en-US" sz="2000" i="1" spc="-1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Healthcare</a:t>
            </a:r>
            <a:endParaRPr lang="en-US" sz="2000" i="1">
              <a:solidFill>
                <a:schemeClr val="tx1"/>
              </a:solidFill>
              <a:latin typeface="Aptos Light" panose="020B0004020202020204" pitchFamily="34" charset="0"/>
              <a:cs typeface="Arial Narrow"/>
            </a:endParaRPr>
          </a:p>
          <a:p>
            <a:pPr marL="469265" indent="-456565">
              <a:lnSpc>
                <a:spcPct val="100000"/>
              </a:lnSpc>
              <a:spcBef>
                <a:spcPts val="625"/>
              </a:spcBef>
              <a:buFont typeface="Arial"/>
              <a:buChar char="-"/>
              <a:tabLst>
                <a:tab pos="469265" algn="l"/>
              </a:tabLst>
            </a:pPr>
            <a:r>
              <a:rPr lang="en-US" sz="2000" i="1" spc="-1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Criminal</a:t>
            </a:r>
            <a:r>
              <a:rPr lang="en-US" sz="2000" i="1" spc="-10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z="2000" i="1" spc="-1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justice</a:t>
            </a:r>
            <a:endParaRPr lang="en-US" sz="2000" i="1">
              <a:solidFill>
                <a:schemeClr val="tx1"/>
              </a:solidFill>
              <a:latin typeface="Aptos Light" panose="020B0004020202020204" pitchFamily="34" charset="0"/>
              <a:cs typeface="Arial Narrow"/>
            </a:endParaRPr>
          </a:p>
          <a:p>
            <a:pPr marL="469265" indent="-456565">
              <a:lnSpc>
                <a:spcPct val="100000"/>
              </a:lnSpc>
              <a:spcBef>
                <a:spcPts val="815"/>
              </a:spcBef>
              <a:buFont typeface="Arial"/>
              <a:buChar char="-"/>
              <a:tabLst>
                <a:tab pos="469265" algn="l"/>
              </a:tabLst>
            </a:pPr>
            <a:r>
              <a:rPr lang="en-US" sz="2000" i="1" spc="-75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Resource</a:t>
            </a:r>
            <a:r>
              <a:rPr lang="en-US" sz="2000" i="1" spc="-5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z="2000" i="1" spc="-1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allocation</a:t>
            </a:r>
            <a:endParaRPr lang="en-US" sz="2000" i="1">
              <a:solidFill>
                <a:schemeClr val="tx1"/>
              </a:solidFill>
              <a:latin typeface="Aptos Light" panose="020B0004020202020204" pitchFamily="34" charset="0"/>
              <a:cs typeface="Arial Narrow"/>
            </a:endParaRPr>
          </a:p>
          <a:p>
            <a:pPr marL="469265" indent="-456565">
              <a:lnSpc>
                <a:spcPct val="100000"/>
              </a:lnSpc>
              <a:spcBef>
                <a:spcPts val="720"/>
              </a:spcBef>
              <a:buFont typeface="Arial"/>
              <a:buChar char="-"/>
              <a:tabLst>
                <a:tab pos="469265" algn="l"/>
              </a:tabLst>
            </a:pPr>
            <a:r>
              <a:rPr lang="en-US" sz="2000" i="1" spc="-8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The</a:t>
            </a:r>
            <a:r>
              <a:rPr lang="en-US" sz="2000" i="1" spc="-6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z="2000" i="1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list</a:t>
            </a:r>
            <a:r>
              <a:rPr lang="en-US" sz="2000" i="1" spc="-7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z="2000" i="1" spc="-1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literally</a:t>
            </a:r>
            <a:r>
              <a:rPr lang="en-US" sz="2000" i="1" spc="-7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z="2000" i="1" spc="-25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goes</a:t>
            </a:r>
            <a:r>
              <a:rPr lang="en-US" sz="2000" i="1" spc="-65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z="2000" i="1" spc="-25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on!</a:t>
            </a:r>
            <a:endParaRPr lang="en-US" sz="2000" i="1">
              <a:solidFill>
                <a:schemeClr val="tx1"/>
              </a:solidFill>
              <a:latin typeface="Aptos Light" panose="020B0004020202020204" pitchFamily="34" charset="0"/>
              <a:cs typeface="Arial Narrow"/>
            </a:endParaRPr>
          </a:p>
          <a:p>
            <a:pPr>
              <a:lnSpc>
                <a:spcPct val="100000"/>
              </a:lnSpc>
              <a:spcBef>
                <a:spcPts val="1495"/>
              </a:spcBef>
            </a:pPr>
            <a:endParaRPr lang="en-US" sz="2000">
              <a:solidFill>
                <a:schemeClr val="tx1"/>
              </a:solidFill>
              <a:latin typeface="Aptos Light" panose="020B0004020202020204" pitchFamily="34" charset="0"/>
              <a:cs typeface="Arial Narrow"/>
            </a:endParaRPr>
          </a:p>
          <a:p>
            <a:pPr marL="12700">
              <a:lnSpc>
                <a:spcPct val="100000"/>
              </a:lnSpc>
            </a:pPr>
            <a:r>
              <a:rPr lang="en-US" sz="2400" spc="-45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The</a:t>
            </a:r>
            <a:r>
              <a:rPr lang="en-US" sz="2400" spc="-7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z="240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decisions</a:t>
            </a:r>
            <a:r>
              <a:rPr lang="en-US" sz="2400" spc="-7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z="240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we</a:t>
            </a:r>
            <a:r>
              <a:rPr lang="en-US" sz="2400" spc="-7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z="2400" spc="-55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make</a:t>
            </a:r>
            <a:r>
              <a:rPr lang="en-US" sz="2400" spc="-7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z="2400" spc="-1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influences</a:t>
            </a:r>
            <a:r>
              <a:rPr lang="en-US" sz="2400" spc="-7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z="240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the</a:t>
            </a:r>
            <a:r>
              <a:rPr lang="en-US" sz="2400" spc="-7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z="2400" spc="-3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software</a:t>
            </a:r>
            <a:r>
              <a:rPr lang="en-US" sz="2400" spc="-7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z="240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that</a:t>
            </a:r>
            <a:r>
              <a:rPr lang="en-US" sz="2400" spc="-7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z="240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gets</a:t>
            </a:r>
            <a:r>
              <a:rPr lang="en-US" sz="2400" spc="-7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z="240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shipped</a:t>
            </a:r>
            <a:r>
              <a:rPr lang="en-US" sz="2400" spc="-65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z="240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to</a:t>
            </a:r>
            <a:r>
              <a:rPr lang="en-US" sz="2400" spc="-8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z="240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the</a:t>
            </a:r>
            <a:r>
              <a:rPr lang="en-US" sz="2400" spc="-7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z="2400" spc="-1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world.</a:t>
            </a:r>
            <a:endParaRPr lang="en-US" sz="2400">
              <a:solidFill>
                <a:schemeClr val="tx1"/>
              </a:solidFill>
              <a:latin typeface="Aptos Light" panose="020B0004020202020204" pitchFamily="34" charset="0"/>
              <a:cs typeface="Arial Narrow"/>
            </a:endParaRPr>
          </a:p>
        </p:txBody>
      </p:sp>
      <p:pic>
        <p:nvPicPr>
          <p:cNvPr id="2" name="object 5">
            <a:extLst>
              <a:ext uri="{FF2B5EF4-FFF2-40B4-BE49-F238E27FC236}">
                <a16:creationId xmlns:a16="http://schemas.microsoft.com/office/drawing/2014/main" id="{CBC45BAA-00A4-85D5-6191-857DFD5EDAE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33855" y="2164472"/>
            <a:ext cx="2737521" cy="3279466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0596E66-FDF4-DC30-0DB0-B156E7D92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880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B2E3A0D-150A-2889-C2D2-434A8E299DA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RF LEMONBERRY SANS" panose="02000603000000000000" pitchFamily="2" charset="0"/>
                <a:ea typeface="MRF LEMONBERRY SANS" panose="02000603000000000000" pitchFamily="2" charset="0"/>
                <a:cs typeface="+mj-cs"/>
              </a:rPr>
              <a:t>The power in decisions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47D330FD-AA08-EB3D-48F8-25E229417E22}"/>
              </a:ext>
            </a:extLst>
          </p:cNvPr>
          <p:cNvSpPr txBox="1">
            <a:spLocks/>
          </p:cNvSpPr>
          <p:nvPr/>
        </p:nvSpPr>
        <p:spPr>
          <a:xfrm>
            <a:off x="836676" y="1960915"/>
            <a:ext cx="10853928" cy="42519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lang="en-US" sz="2400" spc="-45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Given</a:t>
            </a:r>
            <a:r>
              <a:rPr lang="en-US" sz="2400" spc="-9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z="240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the</a:t>
            </a:r>
            <a:r>
              <a:rPr lang="en-US" sz="2400" spc="-8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z="240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findings,</a:t>
            </a:r>
            <a:r>
              <a:rPr lang="en-US" sz="2400" spc="-8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z="2400" spc="-2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explored</a:t>
            </a:r>
            <a:r>
              <a:rPr lang="en-US" sz="2400" spc="-8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z="240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other</a:t>
            </a:r>
            <a:r>
              <a:rPr lang="en-US" sz="2400" spc="-75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z="2400" spc="-1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options:</a:t>
            </a:r>
            <a:endParaRPr lang="en-US" sz="2400">
              <a:solidFill>
                <a:schemeClr val="tx1"/>
              </a:solidFill>
              <a:latin typeface="Aptos Light" panose="020B0004020202020204" pitchFamily="34" charset="0"/>
              <a:cs typeface="Arial Narrow"/>
            </a:endParaRPr>
          </a:p>
          <a:p>
            <a:pPr marL="354965" indent="-342265">
              <a:lnSpc>
                <a:spcPct val="100000"/>
              </a:lnSpc>
              <a:spcBef>
                <a:spcPts val="755"/>
              </a:spcBef>
              <a:buFont typeface="Arial"/>
              <a:buChar char="-"/>
              <a:tabLst>
                <a:tab pos="354965" algn="l"/>
              </a:tabLst>
            </a:pPr>
            <a:r>
              <a:rPr lang="en-US" spc="-35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Other</a:t>
            </a:r>
            <a:r>
              <a:rPr lang="en-US" spc="-7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pc="-2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costs</a:t>
            </a:r>
            <a:r>
              <a:rPr lang="en-US" spc="-55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pc="-25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(e.g.,</a:t>
            </a:r>
            <a:r>
              <a:rPr lang="en-US" spc="-6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pc="-1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future</a:t>
            </a:r>
            <a:r>
              <a:rPr lang="en-US" spc="-6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pc="-4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avoidable</a:t>
            </a:r>
            <a:r>
              <a:rPr lang="en-US" spc="-55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pc="-1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costs)</a:t>
            </a:r>
            <a:endParaRPr lang="en-US">
              <a:solidFill>
                <a:schemeClr val="tx1"/>
              </a:solidFill>
              <a:latin typeface="Aptos Light" panose="020B0004020202020204" pitchFamily="34" charset="0"/>
              <a:cs typeface="Arial Narrow"/>
            </a:endParaRPr>
          </a:p>
          <a:p>
            <a:pPr marL="354965" indent="-342265">
              <a:lnSpc>
                <a:spcPct val="100000"/>
              </a:lnSpc>
              <a:spcBef>
                <a:spcPts val="720"/>
              </a:spcBef>
              <a:buFont typeface="Arial"/>
              <a:buChar char="-"/>
              <a:tabLst>
                <a:tab pos="354965" algn="l"/>
              </a:tabLst>
            </a:pPr>
            <a:r>
              <a:rPr lang="en-US" spc="-25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Number</a:t>
            </a:r>
            <a:r>
              <a:rPr lang="en-US" spc="-8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pc="-4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active</a:t>
            </a:r>
            <a:r>
              <a:rPr lang="en-US" spc="-7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chronic</a:t>
            </a:r>
            <a:r>
              <a:rPr lang="en-US" spc="-75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pc="-1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conditions</a:t>
            </a:r>
          </a:p>
          <a:p>
            <a:pPr marL="12700">
              <a:lnSpc>
                <a:spcPct val="100000"/>
              </a:lnSpc>
              <a:spcBef>
                <a:spcPts val="720"/>
              </a:spcBef>
              <a:tabLst>
                <a:tab pos="354965" algn="l"/>
              </a:tabLst>
            </a:pPr>
            <a:endParaRPr lang="en-US">
              <a:solidFill>
                <a:schemeClr val="tx1"/>
              </a:solidFill>
              <a:latin typeface="Aptos Light" panose="020B0004020202020204" pitchFamily="34" charset="0"/>
              <a:cs typeface="Arial Narrow"/>
            </a:endParaRPr>
          </a:p>
          <a:p>
            <a:pPr marL="12700" marR="5080">
              <a:lnSpc>
                <a:spcPct val="100000"/>
              </a:lnSpc>
              <a:spcBef>
                <a:spcPts val="135"/>
              </a:spcBef>
            </a:pPr>
            <a:r>
              <a:rPr lang="en-US" sz="2400" spc="-35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Conducted</a:t>
            </a:r>
            <a:r>
              <a:rPr lang="en-US" sz="2400" spc="-25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series </a:t>
            </a:r>
            <a:r>
              <a:rPr lang="en-US" sz="240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of</a:t>
            </a:r>
            <a:r>
              <a:rPr lang="en-US" sz="2400" spc="-2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z="2400" spc="-45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experiments</a:t>
            </a:r>
            <a:r>
              <a:rPr lang="en-US" sz="2400" spc="-2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z="240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to</a:t>
            </a:r>
            <a:r>
              <a:rPr lang="en-US" sz="2400" spc="-2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z="2400" spc="-75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evaluate</a:t>
            </a:r>
            <a:r>
              <a:rPr lang="en-US" sz="2400" spc="-25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z="2400" spc="-3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outcomes</a:t>
            </a:r>
          </a:p>
          <a:p>
            <a:pPr marL="12700" marR="5080">
              <a:lnSpc>
                <a:spcPct val="100000"/>
              </a:lnSpc>
              <a:spcBef>
                <a:spcPts val="135"/>
              </a:spcBef>
            </a:pPr>
            <a:r>
              <a:rPr lang="en-US" sz="2400" spc="-3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br>
              <a:rPr lang="en-US" sz="2400" spc="-3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</a:br>
            <a:r>
              <a:rPr lang="en-US" sz="2400" spc="-5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Worked</a:t>
            </a:r>
            <a:r>
              <a:rPr lang="en-US" sz="2400" spc="-6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z="240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with</a:t>
            </a:r>
            <a:r>
              <a:rPr lang="en-US" sz="2400" spc="-6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z="2400" spc="-35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company</a:t>
            </a:r>
            <a:r>
              <a:rPr lang="en-US" sz="2400" spc="-55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z="240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to</a:t>
            </a:r>
            <a:r>
              <a:rPr lang="en-US" sz="2400" spc="-55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z="2400" spc="-1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improve</a:t>
            </a:r>
            <a:r>
              <a:rPr lang="en-US" sz="2400" spc="-6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z="240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the</a:t>
            </a:r>
            <a:r>
              <a:rPr lang="en-US" sz="2400" spc="-6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 </a:t>
            </a:r>
            <a:r>
              <a:rPr lang="en-US" sz="2400" spc="-10">
                <a:solidFill>
                  <a:schemeClr val="tx1"/>
                </a:solidFill>
                <a:latin typeface="Aptos Light" panose="020B0004020202020204" pitchFamily="34" charset="0"/>
                <a:cs typeface="Arial Narrow"/>
              </a:rPr>
              <a:t>algorithm</a:t>
            </a:r>
          </a:p>
          <a:p>
            <a:pPr marL="12700" marR="5080">
              <a:lnSpc>
                <a:spcPct val="100000"/>
              </a:lnSpc>
              <a:spcBef>
                <a:spcPts val="135"/>
              </a:spcBef>
            </a:pPr>
            <a:endParaRPr lang="en-US" sz="2400" spc="-10">
              <a:solidFill>
                <a:schemeClr val="tx1"/>
              </a:solidFill>
              <a:latin typeface="Aptos Light" panose="020B0004020202020204" pitchFamily="34" charset="0"/>
              <a:cs typeface="Arial Narrow"/>
            </a:endParaRPr>
          </a:p>
          <a:p>
            <a:pPr marL="12700" marR="5080" algn="ctr">
              <a:lnSpc>
                <a:spcPct val="100000"/>
              </a:lnSpc>
              <a:spcBef>
                <a:spcPts val="135"/>
              </a:spcBef>
            </a:pPr>
            <a:r>
              <a:rPr lang="en-US" sz="2400" b="1" spc="-25">
                <a:solidFill>
                  <a:schemeClr val="tx1"/>
                </a:solidFill>
                <a:latin typeface="Aptos" panose="020B0004020202020204" pitchFamily="34" charset="0"/>
                <a:cs typeface="Arial Narrow"/>
              </a:rPr>
              <a:t>The</a:t>
            </a:r>
            <a:r>
              <a:rPr lang="en-US" sz="2400" b="1" spc="-20">
                <a:solidFill>
                  <a:schemeClr val="tx1"/>
                </a:solidFill>
                <a:latin typeface="Aptos" panose="020B0004020202020204" pitchFamily="34" charset="0"/>
                <a:cs typeface="Arial Narrow"/>
              </a:rPr>
              <a:t> </a:t>
            </a:r>
            <a:r>
              <a:rPr lang="en-US" sz="2400" b="1">
                <a:solidFill>
                  <a:schemeClr val="tx1"/>
                </a:solidFill>
                <a:latin typeface="Aptos" panose="020B0004020202020204" pitchFamily="34" charset="0"/>
                <a:cs typeface="Arial Narrow"/>
              </a:rPr>
              <a:t>ethical</a:t>
            </a:r>
            <a:r>
              <a:rPr lang="en-US" sz="2400" b="1" spc="-15">
                <a:solidFill>
                  <a:schemeClr val="tx1"/>
                </a:solidFill>
                <a:latin typeface="Aptos" panose="020B0004020202020204" pitchFamily="34" charset="0"/>
                <a:cs typeface="Arial Narrow"/>
              </a:rPr>
              <a:t> </a:t>
            </a:r>
            <a:r>
              <a:rPr lang="en-US" sz="2400" b="1">
                <a:solidFill>
                  <a:schemeClr val="tx1"/>
                </a:solidFill>
                <a:latin typeface="Aptos" panose="020B0004020202020204" pitchFamily="34" charset="0"/>
                <a:cs typeface="Arial Narrow"/>
              </a:rPr>
              <a:t>decision</a:t>
            </a:r>
            <a:r>
              <a:rPr lang="en-US" sz="2400" b="1" spc="-20">
                <a:solidFill>
                  <a:schemeClr val="tx1"/>
                </a:solidFill>
                <a:latin typeface="Aptos" panose="020B0004020202020204" pitchFamily="34" charset="0"/>
                <a:cs typeface="Arial Narrow"/>
              </a:rPr>
              <a:t> </a:t>
            </a:r>
            <a:r>
              <a:rPr lang="en-US" sz="2400" b="1">
                <a:solidFill>
                  <a:schemeClr val="tx1"/>
                </a:solidFill>
                <a:latin typeface="Aptos" panose="020B0004020202020204" pitchFamily="34" charset="0"/>
                <a:cs typeface="Arial Narrow"/>
              </a:rPr>
              <a:t>to</a:t>
            </a:r>
            <a:r>
              <a:rPr lang="en-US" sz="2400" b="1" spc="-10">
                <a:solidFill>
                  <a:schemeClr val="tx1"/>
                </a:solidFill>
                <a:latin typeface="Aptos" panose="020B0004020202020204" pitchFamily="34" charset="0"/>
                <a:cs typeface="Arial Narrow"/>
              </a:rPr>
              <a:t> </a:t>
            </a:r>
            <a:r>
              <a:rPr lang="en-US" sz="2400" b="1" spc="-45">
                <a:solidFill>
                  <a:schemeClr val="tx1"/>
                </a:solidFill>
                <a:latin typeface="Aptos" panose="020B0004020202020204" pitchFamily="34" charset="0"/>
                <a:cs typeface="Arial Narrow"/>
              </a:rPr>
              <a:t>evaluate</a:t>
            </a:r>
            <a:r>
              <a:rPr lang="en-US" sz="2400" b="1" spc="-20">
                <a:solidFill>
                  <a:schemeClr val="tx1"/>
                </a:solidFill>
                <a:latin typeface="Aptos" panose="020B0004020202020204" pitchFamily="34" charset="0"/>
                <a:cs typeface="Arial Narrow"/>
              </a:rPr>
              <a:t> </a:t>
            </a:r>
            <a:r>
              <a:rPr lang="en-US" sz="2400" b="1">
                <a:solidFill>
                  <a:schemeClr val="tx1"/>
                </a:solidFill>
                <a:latin typeface="Aptos" panose="020B0004020202020204" pitchFamily="34" charset="0"/>
                <a:cs typeface="Arial Narrow"/>
              </a:rPr>
              <a:t>a</a:t>
            </a:r>
            <a:r>
              <a:rPr lang="en-US" sz="2400" b="1" spc="-10">
                <a:solidFill>
                  <a:schemeClr val="tx1"/>
                </a:solidFill>
                <a:latin typeface="Aptos" panose="020B0004020202020204" pitchFamily="34" charset="0"/>
                <a:cs typeface="Arial Narrow"/>
              </a:rPr>
              <a:t> variety</a:t>
            </a:r>
            <a:r>
              <a:rPr lang="en-US" sz="2400" b="1" spc="-20">
                <a:solidFill>
                  <a:schemeClr val="tx1"/>
                </a:solidFill>
                <a:latin typeface="Aptos" panose="020B0004020202020204" pitchFamily="34" charset="0"/>
                <a:cs typeface="Arial Narrow"/>
              </a:rPr>
              <a:t> </a:t>
            </a:r>
            <a:r>
              <a:rPr lang="en-US" sz="2400" b="1">
                <a:solidFill>
                  <a:schemeClr val="tx1"/>
                </a:solidFill>
                <a:latin typeface="Aptos" panose="020B0004020202020204" pitchFamily="34" charset="0"/>
                <a:cs typeface="Arial Narrow"/>
              </a:rPr>
              <a:t>of</a:t>
            </a:r>
            <a:r>
              <a:rPr lang="en-US" sz="2400" b="1" spc="-5">
                <a:solidFill>
                  <a:schemeClr val="tx1"/>
                </a:solidFill>
                <a:latin typeface="Aptos" panose="020B0004020202020204" pitchFamily="34" charset="0"/>
                <a:cs typeface="Arial Narrow"/>
              </a:rPr>
              <a:t> </a:t>
            </a:r>
            <a:r>
              <a:rPr lang="en-US" sz="2400" b="1">
                <a:solidFill>
                  <a:schemeClr val="tx1"/>
                </a:solidFill>
                <a:latin typeface="Aptos" panose="020B0004020202020204" pitchFamily="34" charset="0"/>
                <a:cs typeface="Arial Narrow"/>
              </a:rPr>
              <a:t>options</a:t>
            </a:r>
            <a:r>
              <a:rPr lang="en-US" sz="2400" b="1" spc="-15">
                <a:solidFill>
                  <a:schemeClr val="tx1"/>
                </a:solidFill>
                <a:latin typeface="Aptos" panose="020B0004020202020204" pitchFamily="34" charset="0"/>
                <a:cs typeface="Arial Narrow"/>
              </a:rPr>
              <a:t> </a:t>
            </a:r>
          </a:p>
          <a:p>
            <a:pPr marL="12700" marR="5080" algn="ctr">
              <a:lnSpc>
                <a:spcPct val="100000"/>
              </a:lnSpc>
              <a:spcBef>
                <a:spcPts val="135"/>
              </a:spcBef>
            </a:pPr>
            <a:r>
              <a:rPr lang="en-US" sz="2400" b="1">
                <a:solidFill>
                  <a:schemeClr val="tx1"/>
                </a:solidFill>
                <a:latin typeface="Aptos" panose="020B0004020202020204" pitchFamily="34" charset="0"/>
                <a:cs typeface="Arial Narrow"/>
              </a:rPr>
              <a:t>led</a:t>
            </a:r>
            <a:r>
              <a:rPr lang="en-US" sz="2400" b="1" spc="-10">
                <a:solidFill>
                  <a:schemeClr val="tx1"/>
                </a:solidFill>
                <a:latin typeface="Aptos" panose="020B0004020202020204" pitchFamily="34" charset="0"/>
                <a:cs typeface="Arial Narrow"/>
              </a:rPr>
              <a:t> </a:t>
            </a:r>
            <a:r>
              <a:rPr lang="en-US" sz="2400" b="1">
                <a:solidFill>
                  <a:schemeClr val="tx1"/>
                </a:solidFill>
                <a:latin typeface="Aptos" panose="020B0004020202020204" pitchFamily="34" charset="0"/>
                <a:cs typeface="Arial Narrow"/>
              </a:rPr>
              <a:t>to</a:t>
            </a:r>
            <a:r>
              <a:rPr lang="en-US" sz="2400" b="1" spc="-15">
                <a:solidFill>
                  <a:schemeClr val="tx1"/>
                </a:solidFill>
                <a:latin typeface="Aptos" panose="020B0004020202020204" pitchFamily="34" charset="0"/>
                <a:cs typeface="Arial Narrow"/>
              </a:rPr>
              <a:t> </a:t>
            </a:r>
            <a:r>
              <a:rPr lang="en-US" sz="2400" b="1">
                <a:solidFill>
                  <a:schemeClr val="tx1"/>
                </a:solidFill>
                <a:latin typeface="Aptos" panose="020B0004020202020204" pitchFamily="34" charset="0"/>
                <a:cs typeface="Arial Narrow"/>
              </a:rPr>
              <a:t>a</a:t>
            </a:r>
            <a:r>
              <a:rPr lang="en-US" sz="2400" b="1" spc="-10">
                <a:solidFill>
                  <a:schemeClr val="tx1"/>
                </a:solidFill>
                <a:latin typeface="Aptos" panose="020B0004020202020204" pitchFamily="34" charset="0"/>
                <a:cs typeface="Arial Narrow"/>
              </a:rPr>
              <a:t> </a:t>
            </a:r>
            <a:r>
              <a:rPr lang="en-US" sz="2400" b="1">
                <a:solidFill>
                  <a:schemeClr val="tx1"/>
                </a:solidFill>
                <a:latin typeface="Aptos" panose="020B0004020202020204" pitchFamily="34" charset="0"/>
                <a:cs typeface="Arial Narrow"/>
              </a:rPr>
              <a:t>more</a:t>
            </a:r>
            <a:r>
              <a:rPr lang="en-US" sz="2400" b="1" spc="-20">
                <a:solidFill>
                  <a:schemeClr val="tx1"/>
                </a:solidFill>
                <a:latin typeface="Aptos" panose="020B0004020202020204" pitchFamily="34" charset="0"/>
                <a:cs typeface="Arial Narrow"/>
              </a:rPr>
              <a:t> </a:t>
            </a:r>
            <a:r>
              <a:rPr lang="en-US" sz="2400" b="1" spc="-10">
                <a:solidFill>
                  <a:schemeClr val="tx1"/>
                </a:solidFill>
                <a:latin typeface="Aptos" panose="020B0004020202020204" pitchFamily="34" charset="0"/>
                <a:cs typeface="Arial Narrow"/>
              </a:rPr>
              <a:t>equitable</a:t>
            </a:r>
            <a:r>
              <a:rPr lang="en-US" sz="2400" b="1" spc="-15">
                <a:solidFill>
                  <a:schemeClr val="tx1"/>
                </a:solidFill>
                <a:latin typeface="Aptos" panose="020B0004020202020204" pitchFamily="34" charset="0"/>
                <a:cs typeface="Arial Narrow"/>
              </a:rPr>
              <a:t> </a:t>
            </a:r>
            <a:r>
              <a:rPr lang="en-US" sz="2400" b="1" spc="-10">
                <a:solidFill>
                  <a:schemeClr val="tx1"/>
                </a:solidFill>
                <a:latin typeface="Aptos" panose="020B0004020202020204" pitchFamily="34" charset="0"/>
                <a:cs typeface="Arial Narrow"/>
              </a:rPr>
              <a:t>algorithm.</a:t>
            </a:r>
            <a:endParaRPr lang="en-US" sz="2400" b="1">
              <a:solidFill>
                <a:schemeClr val="tx1"/>
              </a:solidFill>
              <a:latin typeface="Aptos" panose="020B0004020202020204" pitchFamily="34" charset="0"/>
              <a:cs typeface="Arial Narrow"/>
            </a:endParaRPr>
          </a:p>
          <a:p>
            <a:pPr marL="12700" marR="5080">
              <a:lnSpc>
                <a:spcPct val="100000"/>
              </a:lnSpc>
              <a:spcBef>
                <a:spcPts val="135"/>
              </a:spcBef>
            </a:pPr>
            <a:endParaRPr lang="en-US" sz="2400">
              <a:solidFill>
                <a:schemeClr val="tx1"/>
              </a:solidFill>
              <a:latin typeface="Aptos Light" panose="020B0004020202020204" pitchFamily="34" charset="0"/>
              <a:cs typeface="Arial Narrow"/>
            </a:endParaRPr>
          </a:p>
        </p:txBody>
      </p:sp>
      <p:sp>
        <p:nvSpPr>
          <p:cNvPr id="2" name="object 6">
            <a:extLst>
              <a:ext uri="{FF2B5EF4-FFF2-40B4-BE49-F238E27FC236}">
                <a16:creationId xmlns:a16="http://schemas.microsoft.com/office/drawing/2014/main" id="{381A7039-C3B6-9CD5-4FDC-B6C180EDE42F}"/>
              </a:ext>
            </a:extLst>
          </p:cNvPr>
          <p:cNvSpPr txBox="1"/>
          <p:nvPr/>
        </p:nvSpPr>
        <p:spPr>
          <a:xfrm>
            <a:off x="836676" y="6559260"/>
            <a:ext cx="9559437" cy="204543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12700" marR="5080">
              <a:lnSpc>
                <a:spcPts val="1390"/>
              </a:lnSpc>
              <a:spcBef>
                <a:spcPts val="185"/>
              </a:spcBef>
            </a:pPr>
            <a:r>
              <a:rPr sz="1200" i="1" spc="-10">
                <a:solidFill>
                  <a:srgbClr val="222222"/>
                </a:solidFill>
                <a:latin typeface="Avenir Next Condensed"/>
                <a:cs typeface="Avenir Next Condensed"/>
              </a:rPr>
              <a:t>Obermeyer,</a:t>
            </a:r>
            <a:r>
              <a:rPr sz="1200" i="1" spc="-45">
                <a:solidFill>
                  <a:srgbClr val="222222"/>
                </a:solidFill>
                <a:latin typeface="Avenir Next Condensed"/>
                <a:cs typeface="Avenir Next Condensed"/>
              </a:rPr>
              <a:t> </a:t>
            </a:r>
            <a:r>
              <a:rPr sz="1200" i="1">
                <a:solidFill>
                  <a:srgbClr val="222222"/>
                </a:solidFill>
                <a:latin typeface="Avenir Next Condensed"/>
                <a:cs typeface="Avenir Next Condensed"/>
              </a:rPr>
              <a:t>Z.,</a:t>
            </a:r>
            <a:r>
              <a:rPr sz="1200" i="1" spc="-40">
                <a:solidFill>
                  <a:srgbClr val="222222"/>
                </a:solidFill>
                <a:latin typeface="Avenir Next Condensed"/>
                <a:cs typeface="Avenir Next Condensed"/>
              </a:rPr>
              <a:t> </a:t>
            </a:r>
            <a:r>
              <a:rPr sz="1200" i="1" spc="-10">
                <a:solidFill>
                  <a:srgbClr val="222222"/>
                </a:solidFill>
                <a:latin typeface="Avenir Next Condensed"/>
                <a:cs typeface="Avenir Next Condensed"/>
              </a:rPr>
              <a:t>Powers,</a:t>
            </a:r>
            <a:r>
              <a:rPr sz="1200" i="1" spc="-40">
                <a:solidFill>
                  <a:srgbClr val="222222"/>
                </a:solidFill>
                <a:latin typeface="Avenir Next Condensed"/>
                <a:cs typeface="Avenir Next Condensed"/>
              </a:rPr>
              <a:t> </a:t>
            </a:r>
            <a:r>
              <a:rPr sz="1200" i="1" spc="-10">
                <a:solidFill>
                  <a:srgbClr val="222222"/>
                </a:solidFill>
                <a:latin typeface="Avenir Next Condensed"/>
                <a:cs typeface="Avenir Next Condensed"/>
              </a:rPr>
              <a:t>B.,</a:t>
            </a:r>
            <a:r>
              <a:rPr sz="1200" i="1" spc="-55">
                <a:solidFill>
                  <a:srgbClr val="222222"/>
                </a:solidFill>
                <a:latin typeface="Avenir Next Condensed"/>
                <a:cs typeface="Avenir Next Condensed"/>
              </a:rPr>
              <a:t> </a:t>
            </a:r>
            <a:r>
              <a:rPr sz="1200" i="1" spc="-10">
                <a:solidFill>
                  <a:srgbClr val="222222"/>
                </a:solidFill>
                <a:latin typeface="Avenir Next Condensed"/>
                <a:cs typeface="Avenir Next Condensed"/>
              </a:rPr>
              <a:t>Vogeli,</a:t>
            </a:r>
            <a:r>
              <a:rPr sz="1200" i="1" spc="-40">
                <a:solidFill>
                  <a:srgbClr val="222222"/>
                </a:solidFill>
                <a:latin typeface="Avenir Next Condensed"/>
                <a:cs typeface="Avenir Next Condensed"/>
              </a:rPr>
              <a:t> </a:t>
            </a:r>
            <a:r>
              <a:rPr sz="1200" i="1">
                <a:solidFill>
                  <a:srgbClr val="222222"/>
                </a:solidFill>
                <a:latin typeface="Avenir Next Condensed"/>
                <a:cs typeface="Avenir Next Condensed"/>
              </a:rPr>
              <a:t>C.,</a:t>
            </a:r>
            <a:r>
              <a:rPr sz="1200" i="1" spc="-40">
                <a:solidFill>
                  <a:srgbClr val="222222"/>
                </a:solidFill>
                <a:latin typeface="Avenir Next Condensed"/>
                <a:cs typeface="Avenir Next Condensed"/>
              </a:rPr>
              <a:t> </a:t>
            </a:r>
            <a:r>
              <a:rPr sz="1200" i="1">
                <a:solidFill>
                  <a:srgbClr val="222222"/>
                </a:solidFill>
                <a:latin typeface="Avenir Next Condensed"/>
                <a:cs typeface="Avenir Next Condensed"/>
              </a:rPr>
              <a:t>&amp;</a:t>
            </a:r>
            <a:r>
              <a:rPr sz="1200" i="1" spc="-5">
                <a:solidFill>
                  <a:srgbClr val="222222"/>
                </a:solidFill>
                <a:latin typeface="Avenir Next Condensed"/>
                <a:cs typeface="Avenir Next Condensed"/>
              </a:rPr>
              <a:t> </a:t>
            </a:r>
            <a:r>
              <a:rPr sz="1200" i="1" spc="-10">
                <a:solidFill>
                  <a:srgbClr val="222222"/>
                </a:solidFill>
                <a:latin typeface="Avenir Next Condensed"/>
                <a:cs typeface="Avenir Next Condensed"/>
              </a:rPr>
              <a:t>Mullainathan,</a:t>
            </a:r>
            <a:r>
              <a:rPr sz="1200" i="1" spc="-40">
                <a:solidFill>
                  <a:srgbClr val="222222"/>
                </a:solidFill>
                <a:latin typeface="Avenir Next Condensed"/>
                <a:cs typeface="Avenir Next Condensed"/>
              </a:rPr>
              <a:t> </a:t>
            </a:r>
            <a:r>
              <a:rPr sz="1200" i="1">
                <a:solidFill>
                  <a:srgbClr val="222222"/>
                </a:solidFill>
                <a:latin typeface="Avenir Next Condensed"/>
                <a:cs typeface="Avenir Next Condensed"/>
              </a:rPr>
              <a:t>S.</a:t>
            </a:r>
            <a:r>
              <a:rPr sz="1200" i="1" spc="-40">
                <a:solidFill>
                  <a:srgbClr val="222222"/>
                </a:solidFill>
                <a:latin typeface="Avenir Next Condensed"/>
                <a:cs typeface="Avenir Next Condensed"/>
              </a:rPr>
              <a:t> </a:t>
            </a:r>
            <a:r>
              <a:rPr sz="1200" i="1" spc="-10">
                <a:solidFill>
                  <a:srgbClr val="222222"/>
                </a:solidFill>
                <a:latin typeface="Avenir Next Condensed"/>
                <a:cs typeface="Avenir Next Condensed"/>
              </a:rPr>
              <a:t>(2019).</a:t>
            </a:r>
            <a:r>
              <a:rPr sz="1200" i="1" spc="-40">
                <a:solidFill>
                  <a:srgbClr val="222222"/>
                </a:solidFill>
                <a:latin typeface="Avenir Next Condensed"/>
                <a:cs typeface="Avenir Next Condensed"/>
              </a:rPr>
              <a:t> </a:t>
            </a:r>
            <a:r>
              <a:rPr sz="1200" i="1">
                <a:solidFill>
                  <a:srgbClr val="222222"/>
                </a:solidFill>
                <a:latin typeface="Avenir Next Condensed"/>
                <a:cs typeface="Avenir Next Condensed"/>
              </a:rPr>
              <a:t>Dissecting</a:t>
            </a:r>
            <a:r>
              <a:rPr sz="1200" i="1" spc="-5">
                <a:solidFill>
                  <a:srgbClr val="222222"/>
                </a:solidFill>
                <a:latin typeface="Avenir Next Condensed"/>
                <a:cs typeface="Avenir Next Condensed"/>
              </a:rPr>
              <a:t> </a:t>
            </a:r>
            <a:r>
              <a:rPr sz="1200" i="1">
                <a:solidFill>
                  <a:srgbClr val="222222"/>
                </a:solidFill>
                <a:latin typeface="Avenir Next Condensed"/>
                <a:cs typeface="Avenir Next Condensed"/>
              </a:rPr>
              <a:t>racial</a:t>
            </a:r>
            <a:r>
              <a:rPr sz="1200" i="1" spc="-5">
                <a:solidFill>
                  <a:srgbClr val="222222"/>
                </a:solidFill>
                <a:latin typeface="Avenir Next Condensed"/>
                <a:cs typeface="Avenir Next Condensed"/>
              </a:rPr>
              <a:t> </a:t>
            </a:r>
            <a:r>
              <a:rPr sz="1200" i="1">
                <a:solidFill>
                  <a:srgbClr val="222222"/>
                </a:solidFill>
                <a:latin typeface="Avenir Next Condensed"/>
                <a:cs typeface="Avenir Next Condensed"/>
              </a:rPr>
              <a:t>bias in</a:t>
            </a:r>
            <a:r>
              <a:rPr sz="1200" i="1" spc="-5">
                <a:solidFill>
                  <a:srgbClr val="222222"/>
                </a:solidFill>
                <a:latin typeface="Avenir Next Condensed"/>
                <a:cs typeface="Avenir Next Condensed"/>
              </a:rPr>
              <a:t> </a:t>
            </a:r>
            <a:r>
              <a:rPr sz="1200" i="1">
                <a:solidFill>
                  <a:srgbClr val="222222"/>
                </a:solidFill>
                <a:latin typeface="Avenir Next Condensed"/>
                <a:cs typeface="Avenir Next Condensed"/>
              </a:rPr>
              <a:t>an</a:t>
            </a:r>
            <a:r>
              <a:rPr sz="1200" i="1" spc="-5">
                <a:solidFill>
                  <a:srgbClr val="222222"/>
                </a:solidFill>
                <a:latin typeface="Avenir Next Condensed"/>
                <a:cs typeface="Avenir Next Condensed"/>
              </a:rPr>
              <a:t> </a:t>
            </a:r>
            <a:r>
              <a:rPr sz="1200" i="1">
                <a:solidFill>
                  <a:srgbClr val="222222"/>
                </a:solidFill>
                <a:latin typeface="Avenir Next Condensed"/>
                <a:cs typeface="Avenir Next Condensed"/>
              </a:rPr>
              <a:t>algorithm</a:t>
            </a:r>
            <a:r>
              <a:rPr sz="1200" i="1" spc="-10">
                <a:solidFill>
                  <a:srgbClr val="222222"/>
                </a:solidFill>
                <a:latin typeface="Avenir Next Condensed"/>
                <a:cs typeface="Avenir Next Condensed"/>
              </a:rPr>
              <a:t> </a:t>
            </a:r>
            <a:r>
              <a:rPr sz="1200" i="1">
                <a:solidFill>
                  <a:srgbClr val="222222"/>
                </a:solidFill>
                <a:latin typeface="Avenir Next Condensed"/>
                <a:cs typeface="Avenir Next Condensed"/>
              </a:rPr>
              <a:t>used to</a:t>
            </a:r>
            <a:r>
              <a:rPr sz="1200" i="1" spc="-10">
                <a:solidFill>
                  <a:srgbClr val="222222"/>
                </a:solidFill>
                <a:latin typeface="Avenir Next Condensed"/>
                <a:cs typeface="Avenir Next Condensed"/>
              </a:rPr>
              <a:t> </a:t>
            </a:r>
            <a:r>
              <a:rPr sz="1200" i="1">
                <a:solidFill>
                  <a:srgbClr val="222222"/>
                </a:solidFill>
                <a:latin typeface="Avenir Next Condensed"/>
                <a:cs typeface="Avenir Next Condensed"/>
              </a:rPr>
              <a:t>manage the health </a:t>
            </a:r>
            <a:r>
              <a:rPr sz="1200" i="1" spc="-25">
                <a:solidFill>
                  <a:srgbClr val="222222"/>
                </a:solidFill>
                <a:latin typeface="Avenir Next Condensed"/>
                <a:cs typeface="Avenir Next Condensed"/>
              </a:rPr>
              <a:t>of</a:t>
            </a:r>
            <a:r>
              <a:rPr sz="1200" i="1" spc="-10">
                <a:solidFill>
                  <a:srgbClr val="222222"/>
                </a:solidFill>
                <a:latin typeface="Avenir Next Condensed"/>
                <a:cs typeface="Avenir Next Condensed"/>
              </a:rPr>
              <a:t> populations.</a:t>
            </a:r>
            <a:r>
              <a:rPr sz="1200" i="1" spc="25">
                <a:solidFill>
                  <a:srgbClr val="222222"/>
                </a:solidFill>
                <a:latin typeface="Avenir Next Condensed"/>
                <a:cs typeface="Avenir Next Condensed"/>
              </a:rPr>
              <a:t> </a:t>
            </a:r>
            <a:r>
              <a:rPr sz="1200" i="1" spc="-10">
                <a:solidFill>
                  <a:srgbClr val="222222"/>
                </a:solidFill>
                <a:latin typeface="Avenir Next Condensed"/>
                <a:cs typeface="Avenir Next Condensed"/>
              </a:rPr>
              <a:t>Science,</a:t>
            </a:r>
            <a:r>
              <a:rPr sz="1200" i="1" spc="25">
                <a:solidFill>
                  <a:srgbClr val="222222"/>
                </a:solidFill>
                <a:latin typeface="Avenir Next Condensed"/>
                <a:cs typeface="Avenir Next Condensed"/>
              </a:rPr>
              <a:t> </a:t>
            </a:r>
            <a:r>
              <a:rPr sz="1200" i="1" spc="-10">
                <a:solidFill>
                  <a:srgbClr val="222222"/>
                </a:solidFill>
                <a:latin typeface="Avenir Next Condensed"/>
                <a:cs typeface="Avenir Next Condensed"/>
              </a:rPr>
              <a:t>366(6464),</a:t>
            </a:r>
            <a:r>
              <a:rPr sz="1200" i="1" spc="30">
                <a:solidFill>
                  <a:srgbClr val="222222"/>
                </a:solidFill>
                <a:latin typeface="Avenir Next Condensed"/>
                <a:cs typeface="Avenir Next Condensed"/>
              </a:rPr>
              <a:t> </a:t>
            </a:r>
            <a:r>
              <a:rPr sz="1200" i="1" spc="-10">
                <a:solidFill>
                  <a:srgbClr val="222222"/>
                </a:solidFill>
                <a:latin typeface="Avenir Next Condensed"/>
                <a:cs typeface="Avenir Next Condensed"/>
              </a:rPr>
              <a:t>447-</a:t>
            </a:r>
            <a:r>
              <a:rPr sz="1200" i="1" spc="-20">
                <a:solidFill>
                  <a:srgbClr val="222222"/>
                </a:solidFill>
                <a:latin typeface="Avenir Next Condensed"/>
                <a:cs typeface="Avenir Next Condensed"/>
              </a:rPr>
              <a:t>453.</a:t>
            </a:r>
            <a:endParaRPr sz="1200" i="1">
              <a:latin typeface="Avenir Next Condensed"/>
              <a:cs typeface="Avenir Next Condensed"/>
            </a:endParaRPr>
          </a:p>
        </p:txBody>
      </p:sp>
      <p:pic>
        <p:nvPicPr>
          <p:cNvPr id="3" name="object 7">
            <a:extLst>
              <a:ext uri="{FF2B5EF4-FFF2-40B4-BE49-F238E27FC236}">
                <a16:creationId xmlns:a16="http://schemas.microsoft.com/office/drawing/2014/main" id="{8DB260CA-D30E-6932-689F-53A87823763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417505" y="645125"/>
            <a:ext cx="2690675" cy="467709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326B28-5179-BE3C-2305-98B16DECE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5915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B2E3A0D-150A-2889-C2D2-434A8E299DA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1803117" cy="13124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  <a:defRPr/>
            </a:pPr>
            <a:r>
              <a:rPr lang="en-US" sz="7200" b="1">
                <a:solidFill>
                  <a:prstClr val="black"/>
                </a:solidFill>
                <a:latin typeface="MRF LEMONBERRY SANS"/>
              </a:rPr>
              <a:t>Supporting ethical decision-making</a:t>
            </a:r>
            <a:endParaRPr lang="en-US">
              <a:solidFill>
                <a:prstClr val="black"/>
              </a:solidFill>
              <a:cs typeface="+mj-cs"/>
            </a:endParaRP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47D330FD-AA08-EB3D-48F8-25E229417E22}"/>
              </a:ext>
            </a:extLst>
          </p:cNvPr>
          <p:cNvSpPr txBox="1">
            <a:spLocks/>
          </p:cNvSpPr>
          <p:nvPr/>
        </p:nvSpPr>
        <p:spPr>
          <a:xfrm>
            <a:off x="836676" y="1960915"/>
            <a:ext cx="10853928" cy="42519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lang="en-US" sz="2800" b="1" spc="-45" dirty="0">
                <a:solidFill>
                  <a:schemeClr val="tx1"/>
                </a:solidFill>
                <a:latin typeface="Aptos Light"/>
              </a:rPr>
              <a:t>"Where there's a will, there's a way"…</a:t>
            </a: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endParaRPr lang="en-US" sz="2800" spc="-45" dirty="0">
              <a:solidFill>
                <a:schemeClr val="tx1"/>
              </a:solidFill>
              <a:latin typeface="Aptos Light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lang="en-US" sz="2800" spc="-45" dirty="0">
                <a:solidFill>
                  <a:schemeClr val="tx1"/>
                </a:solidFill>
                <a:latin typeface="Aptos Light"/>
                <a:cs typeface="Arial Narrow"/>
              </a:rPr>
              <a:t>But what if the will is present, without an effective way?</a:t>
            </a:r>
            <a:endParaRPr lang="en-US" sz="2800" spc="-45" dirty="0">
              <a:solidFill>
                <a:schemeClr val="tx1"/>
              </a:solidFill>
              <a:latin typeface="Aptos Light" panose="020B0004020202020204" pitchFamily="34" charset="0"/>
              <a:cs typeface="Arial Narrow"/>
            </a:endParaRPr>
          </a:p>
          <a:p>
            <a:pPr marL="12700" marR="5080">
              <a:lnSpc>
                <a:spcPct val="100000"/>
              </a:lnSpc>
              <a:spcBef>
                <a:spcPts val="135"/>
              </a:spcBef>
            </a:pPr>
            <a:endParaRPr lang="en-US" sz="2800" spc="-10" dirty="0">
              <a:solidFill>
                <a:schemeClr val="tx1"/>
              </a:solidFill>
              <a:latin typeface="Aptos Light" panose="020B0004020202020204" pitchFamily="34" charset="0"/>
              <a:cs typeface="Arial Narrow"/>
            </a:endParaRPr>
          </a:p>
          <a:p>
            <a:pPr marL="12700" marR="5080">
              <a:lnSpc>
                <a:spcPct val="100000"/>
              </a:lnSpc>
              <a:spcBef>
                <a:spcPts val="135"/>
              </a:spcBef>
            </a:pPr>
            <a:r>
              <a:rPr lang="en-US" sz="2800" dirty="0">
                <a:solidFill>
                  <a:schemeClr val="tx1"/>
                </a:solidFill>
                <a:latin typeface="Aptos Light"/>
                <a:cs typeface="Arial Narrow"/>
              </a:rPr>
              <a:t>Studies suggest </a:t>
            </a:r>
            <a:r>
              <a:rPr lang="en-US" sz="2800" b="1" dirty="0">
                <a:solidFill>
                  <a:schemeClr val="tx1"/>
                </a:solidFill>
                <a:latin typeface="Aptos Light"/>
                <a:cs typeface="Arial Narrow"/>
              </a:rPr>
              <a:t>software engineers want to</a:t>
            </a:r>
            <a:r>
              <a:rPr lang="en-US" sz="2800" dirty="0">
                <a:solidFill>
                  <a:schemeClr val="tx1"/>
                </a:solidFill>
                <a:latin typeface="Aptos Light"/>
                <a:cs typeface="Arial Narrow"/>
              </a:rPr>
              <a:t>, but often don't have</a:t>
            </a:r>
          </a:p>
          <a:p>
            <a:pPr marL="355600" marR="5080" indent="-342900">
              <a:lnSpc>
                <a:spcPct val="100000"/>
              </a:lnSpc>
              <a:spcBef>
                <a:spcPts val="135"/>
              </a:spcBef>
              <a:buFont typeface="Calibri" panose="020B0604020202020204" pitchFamily="34" charset="0"/>
              <a:buChar char="-"/>
            </a:pPr>
            <a:r>
              <a:rPr lang="en-US" sz="2800" dirty="0">
                <a:solidFill>
                  <a:schemeClr val="tx1"/>
                </a:solidFill>
                <a:latin typeface="Aptos Light"/>
                <a:cs typeface="Arial Narrow"/>
              </a:rPr>
              <a:t>Sufficient power [1]</a:t>
            </a:r>
            <a:endParaRPr lang="en-US" sz="2800" dirty="0">
              <a:solidFill>
                <a:schemeClr val="tx1"/>
              </a:solidFill>
              <a:latin typeface="Aptos Light" panose="020B0004020202020204" pitchFamily="34" charset="0"/>
              <a:cs typeface="Arial Narrow"/>
            </a:endParaRPr>
          </a:p>
          <a:p>
            <a:pPr marL="355600" marR="5080" indent="-342900">
              <a:lnSpc>
                <a:spcPct val="100000"/>
              </a:lnSpc>
              <a:spcBef>
                <a:spcPts val="135"/>
              </a:spcBef>
              <a:buFont typeface="Calibri" panose="020B0604020202020204" pitchFamily="34" charset="0"/>
              <a:buChar char="-"/>
            </a:pPr>
            <a:r>
              <a:rPr lang="en-US" sz="2800" dirty="0">
                <a:solidFill>
                  <a:schemeClr val="tx1"/>
                </a:solidFill>
                <a:latin typeface="Aptos Light"/>
                <a:cs typeface="Arial Narrow"/>
              </a:rPr>
              <a:t>Effective tool support [2, 3]</a:t>
            </a:r>
            <a:endParaRPr lang="en-US" sz="2800" dirty="0">
              <a:solidFill>
                <a:schemeClr val="tx1"/>
              </a:solidFill>
              <a:latin typeface="Aptos Light" panose="020B0004020202020204" pitchFamily="34" charset="0"/>
              <a:cs typeface="Arial Narrow"/>
            </a:endParaRPr>
          </a:p>
        </p:txBody>
      </p:sp>
      <p:sp>
        <p:nvSpPr>
          <p:cNvPr id="2" name="object 6">
            <a:extLst>
              <a:ext uri="{FF2B5EF4-FFF2-40B4-BE49-F238E27FC236}">
                <a16:creationId xmlns:a16="http://schemas.microsoft.com/office/drawing/2014/main" id="{381A7039-C3B6-9CD5-4FDC-B6C180EDE42F}"/>
              </a:ext>
            </a:extLst>
          </p:cNvPr>
          <p:cNvSpPr txBox="1"/>
          <p:nvPr/>
        </p:nvSpPr>
        <p:spPr>
          <a:xfrm>
            <a:off x="974624" y="5823536"/>
            <a:ext cx="9559437" cy="777457"/>
          </a:xfrm>
          <a:prstGeom prst="rect">
            <a:avLst/>
          </a:prstGeom>
        </p:spPr>
        <p:txBody>
          <a:bodyPr vert="horz" wrap="square" lIns="0" tIns="23495" rIns="0" bIns="0" rtlCol="0" anchor="t">
            <a:spAutoFit/>
          </a:bodyPr>
          <a:lstStyle/>
          <a:p>
            <a:pPr marL="12700" marR="5080">
              <a:lnSpc>
                <a:spcPts val="1390"/>
              </a:lnSpc>
              <a:spcBef>
                <a:spcPts val="185"/>
              </a:spcBef>
            </a:pPr>
            <a:r>
              <a:rPr lang="en-US" sz="1000" spc="-1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[1] </a:t>
            </a:r>
            <a:r>
              <a:rPr lang="en-US" sz="1000" i="1" spc="-1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cs typeface="Arial"/>
              </a:rPr>
              <a:t>Widder, David Gray, et al. "It’s about power: What ethical concerns do software engineers have, and what do they (feel they can) do about them?." Proceedings of the 2023 ACM Conference on Fairness, Accountability, and Transparency. 2023.</a:t>
            </a:r>
          </a:p>
          <a:p>
            <a:pPr marL="12700" marR="5080">
              <a:lnSpc>
                <a:spcPts val="1390"/>
              </a:lnSpc>
              <a:spcBef>
                <a:spcPts val="185"/>
              </a:spcBef>
            </a:pPr>
            <a:r>
              <a:rPr lang="en-US" sz="1000" spc="-1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[2] </a:t>
            </a:r>
            <a:r>
              <a:rPr lang="en-US" sz="1000" i="1" spc="-1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Ayling, Jacqui, and Adriane Chapman. "Putting AI ethics to work: are the tools fit for purpose?." AI and Ethics 2.3 (2022): 405-429.</a:t>
            </a:r>
          </a:p>
          <a:p>
            <a:pPr marL="12700" marR="5080">
              <a:lnSpc>
                <a:spcPts val="1390"/>
              </a:lnSpc>
              <a:spcBef>
                <a:spcPts val="185"/>
              </a:spcBef>
            </a:pPr>
            <a:r>
              <a:rPr lang="en-US" sz="1000" i="1" spc="-10" dirty="0">
                <a:solidFill>
                  <a:srgbClr val="222222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[3] de Souza Santos, Ronnie, et al. "Software fairness testing in practice." 2025 IEEE International Conference on Software Maintenance and Evolution (ICSME). IEEE, 2025.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3665C5-BDB2-011B-6610-794E07418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479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AC4171-EB4C-0C62-E902-3339C08A2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1">
            <a:extLst>
              <a:ext uri="{FF2B5EF4-FFF2-40B4-BE49-F238E27FC236}">
                <a16:creationId xmlns:a16="http://schemas.microsoft.com/office/drawing/2014/main" id="{A0DE764D-90B7-42DB-10DF-9865512675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9785EF4-F057-8EB1-CA76-7791FBA9073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1803117" cy="13124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  <a:defRPr/>
            </a:pPr>
            <a:r>
              <a:rPr lang="en-US" sz="7200" b="1">
                <a:solidFill>
                  <a:prstClr val="black"/>
                </a:solidFill>
                <a:latin typeface="MRF LEMONBERRY SANS"/>
              </a:rPr>
              <a:t>Leveraging existing skills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D7E20A74-900E-D2A7-01BE-A74757992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F518813-8382-7A01-CFA0-DEFC9BF9BFE8}"/>
              </a:ext>
            </a:extLst>
          </p:cNvPr>
          <p:cNvSpPr txBox="1">
            <a:spLocks/>
          </p:cNvSpPr>
          <p:nvPr/>
        </p:nvSpPr>
        <p:spPr>
          <a:xfrm>
            <a:off x="836676" y="1960915"/>
            <a:ext cx="8791418" cy="42519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lang="en-US" sz="2600" spc="-45" dirty="0">
                <a:solidFill>
                  <a:schemeClr val="tx1"/>
                </a:solidFill>
                <a:latin typeface="Aptos Light"/>
              </a:rPr>
              <a:t>Software engineers already </a:t>
            </a:r>
            <a:r>
              <a:rPr lang="en-US" sz="2600" b="1" spc="-45" dirty="0">
                <a:solidFill>
                  <a:schemeClr val="tx1"/>
                </a:solidFill>
                <a:latin typeface="Aptos Light"/>
              </a:rPr>
              <a:t>equipped with relevant skills</a:t>
            </a:r>
            <a:r>
              <a:rPr lang="en-US" sz="2600" spc="-45" dirty="0">
                <a:solidFill>
                  <a:schemeClr val="tx1"/>
                </a:solidFill>
                <a:latin typeface="Aptos Light"/>
              </a:rPr>
              <a:t>.</a:t>
            </a: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endParaRPr lang="en-US" sz="2600" spc="-45" dirty="0">
              <a:solidFill>
                <a:schemeClr val="tx1"/>
              </a:solidFill>
              <a:latin typeface="Aptos Light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lang="en-US" sz="2600" spc="-45" dirty="0">
                <a:solidFill>
                  <a:schemeClr val="tx1"/>
                </a:solidFill>
                <a:latin typeface="Aptos Light"/>
              </a:rPr>
              <a:t>Testing emerged as critical consideration (and opportunity). </a:t>
            </a: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endParaRPr lang="en-US" sz="2600" spc="-45" dirty="0">
              <a:solidFill>
                <a:schemeClr val="tx1"/>
              </a:solidFill>
              <a:latin typeface="Aptos Light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lang="en-US" sz="2600" spc="-45" dirty="0">
                <a:solidFill>
                  <a:schemeClr val="tx1"/>
                </a:solidFill>
                <a:latin typeface="Aptos Light"/>
              </a:rPr>
              <a:t>We can test for fairness (and other concerns) by evaluating how our software discriminates (or makes decisions).</a:t>
            </a:r>
            <a:endParaRPr lang="en-US" sz="2600" dirty="0">
              <a:solidFill>
                <a:schemeClr val="tx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endParaRPr lang="en-US" sz="2600" spc="-45" dirty="0">
              <a:solidFill>
                <a:schemeClr val="tx1"/>
              </a:solidFill>
              <a:latin typeface="Aptos Light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lang="en-US" sz="2600" b="1" i="1" spc="-45" dirty="0">
                <a:solidFill>
                  <a:schemeClr val="tx1"/>
                </a:solidFill>
                <a:latin typeface="Aptos Light"/>
              </a:rPr>
              <a:t>But how do we do that?</a:t>
            </a:r>
          </a:p>
        </p:txBody>
      </p:sp>
      <p:pic>
        <p:nvPicPr>
          <p:cNvPr id="3" name="Picture 2" descr="37,146 Computer Software Testing Illustrations - Free in SVG, PNG, EPS ...">
            <a:extLst>
              <a:ext uri="{FF2B5EF4-FFF2-40B4-BE49-F238E27FC236}">
                <a16:creationId xmlns:a16="http://schemas.microsoft.com/office/drawing/2014/main" id="{C262FF7A-819A-3A23-A624-B188A0189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6725" y="3224806"/>
            <a:ext cx="3366002" cy="365148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43D53B-2194-5E31-EE63-57D8C396F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56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128B53-7221-8749-9219-3E27F62AA8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1">
            <a:extLst>
              <a:ext uri="{FF2B5EF4-FFF2-40B4-BE49-F238E27FC236}">
                <a16:creationId xmlns:a16="http://schemas.microsoft.com/office/drawing/2014/main" id="{A0A4FDE9-475E-4239-6C8F-2334C4B5C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5207C53-067D-8F46-FF3D-4558732F1FC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1803117" cy="13124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  <a:defRPr/>
            </a:pPr>
            <a:r>
              <a:rPr lang="en-US" sz="7200" b="1">
                <a:solidFill>
                  <a:prstClr val="black"/>
                </a:solidFill>
                <a:latin typeface="MRF LEMONBERRY SANS"/>
              </a:rPr>
              <a:t>What is discrimination?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4F276F77-58BE-C58D-18A5-056513EA42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D9400805-6814-1BD5-D772-9EBA9F3BFD27}"/>
              </a:ext>
            </a:extLst>
          </p:cNvPr>
          <p:cNvSpPr txBox="1">
            <a:spLocks/>
          </p:cNvSpPr>
          <p:nvPr/>
        </p:nvSpPr>
        <p:spPr>
          <a:xfrm>
            <a:off x="836676" y="1960915"/>
            <a:ext cx="4513090" cy="42519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lang="en-US" sz="2800" b="1" spc="-45" dirty="0">
                <a:solidFill>
                  <a:schemeClr val="tx1"/>
                </a:solidFill>
                <a:latin typeface="Aptos Light"/>
              </a:rPr>
              <a:t>Expected discrimination</a:t>
            </a: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endParaRPr lang="en-US" sz="2800" spc="-45" dirty="0">
              <a:solidFill>
                <a:schemeClr val="tx1"/>
              </a:solidFill>
              <a:latin typeface="Aptos Light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endParaRPr lang="en-US" sz="2800" spc="-45" dirty="0">
              <a:solidFill>
                <a:schemeClr val="tx1"/>
              </a:solidFill>
              <a:latin typeface="Aptos Light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endParaRPr lang="en-US" sz="2800" spc="-45" dirty="0">
              <a:solidFill>
                <a:schemeClr val="tx1"/>
              </a:solidFill>
              <a:latin typeface="Aptos Light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6449CF0-EF19-94A2-7AC3-937817BD76DA}"/>
              </a:ext>
            </a:extLst>
          </p:cNvPr>
          <p:cNvSpPr txBox="1">
            <a:spLocks/>
          </p:cNvSpPr>
          <p:nvPr/>
        </p:nvSpPr>
        <p:spPr>
          <a:xfrm>
            <a:off x="5957843" y="1960915"/>
            <a:ext cx="5420561" cy="42519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lang="en-US" sz="2800" b="1" spc="-45" dirty="0">
                <a:solidFill>
                  <a:schemeClr val="tx1"/>
                </a:solidFill>
                <a:latin typeface="Aptos Light"/>
              </a:rPr>
              <a:t>Unexpected discrimination</a:t>
            </a: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lang="en-US" sz="2400" spc="-45" dirty="0">
                <a:solidFill>
                  <a:schemeClr val="tx1"/>
                </a:solidFill>
                <a:latin typeface="Aptos Light"/>
              </a:rPr>
              <a:t>Behavioral sensitivity</a:t>
            </a: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lang="en-US" sz="2400" spc="-45" dirty="0">
                <a:solidFill>
                  <a:schemeClr val="tx1"/>
                </a:solidFill>
                <a:latin typeface="Aptos Light"/>
              </a:rPr>
              <a:t> </a:t>
            </a:r>
            <a:r>
              <a:rPr lang="en-US" spc="-45" dirty="0">
                <a:solidFill>
                  <a:schemeClr val="tx1"/>
                </a:solidFill>
                <a:latin typeface="Aptos Light"/>
              </a:rPr>
              <a:t>- "ascending order" vs. "smallest to largest"</a:t>
            </a: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lang="en-US" sz="2400" spc="-45" dirty="0">
                <a:solidFill>
                  <a:schemeClr val="tx1"/>
                </a:solidFill>
                <a:latin typeface="Aptos Light"/>
              </a:rPr>
              <a:t>fairness-related discrimination</a:t>
            </a: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endParaRPr lang="en-US" sz="2800" spc="-45" dirty="0">
              <a:solidFill>
                <a:schemeClr val="tx1"/>
              </a:solidFill>
              <a:latin typeface="Aptos Light"/>
            </a:endParaRPr>
          </a:p>
        </p:txBody>
      </p:sp>
      <p:pic>
        <p:nvPicPr>
          <p:cNvPr id="3" name="Picture 2" descr="cat isolated on transparent background 46353613 PNG">
            <a:extLst>
              <a:ext uri="{FF2B5EF4-FFF2-40B4-BE49-F238E27FC236}">
                <a16:creationId xmlns:a16="http://schemas.microsoft.com/office/drawing/2014/main" id="{15E416A2-BCB3-F4FE-E16B-D80DBD96FD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812" y="2640725"/>
            <a:ext cx="1432035" cy="1445173"/>
          </a:xfrm>
          <a:prstGeom prst="rect">
            <a:avLst/>
          </a:prstGeom>
        </p:spPr>
      </p:pic>
      <p:pic>
        <p:nvPicPr>
          <p:cNvPr id="6" name="Picture 5" descr="Dog PNG">
            <a:extLst>
              <a:ext uri="{FF2B5EF4-FFF2-40B4-BE49-F238E27FC236}">
                <a16:creationId xmlns:a16="http://schemas.microsoft.com/office/drawing/2014/main" id="{C30B6426-ED25-D1AD-2B37-D4BD2CB6E4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8036" y="4388068"/>
            <a:ext cx="1274380" cy="1307225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E2BC715-3202-30EC-E83B-0BD0EE7DE46E}"/>
              </a:ext>
            </a:extLst>
          </p:cNvPr>
          <p:cNvSpPr/>
          <p:nvPr/>
        </p:nvSpPr>
        <p:spPr>
          <a:xfrm>
            <a:off x="2672988" y="2853320"/>
            <a:ext cx="1489363" cy="102177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Classifier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10" name="Picture 9" descr="Premium Vector | Artificial Intelligence AI icon flat vector illustration">
            <a:extLst>
              <a:ext uri="{FF2B5EF4-FFF2-40B4-BE49-F238E27FC236}">
                <a16:creationId xmlns:a16="http://schemas.microsoft.com/office/drawing/2014/main" id="{38E9F789-591D-CE6F-46C3-27A9B8CCE0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7577" y="2885399"/>
            <a:ext cx="373744" cy="368744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C103E8B-E1B2-05E3-B60A-C839DCC5BA9C}"/>
              </a:ext>
            </a:extLst>
          </p:cNvPr>
          <p:cNvSpPr/>
          <p:nvPr/>
        </p:nvSpPr>
        <p:spPr>
          <a:xfrm>
            <a:off x="2640330" y="4402720"/>
            <a:ext cx="1489363" cy="102177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Classifier</a:t>
            </a:r>
            <a:endParaRPr lang="en-US">
              <a:solidFill>
                <a:schemeClr val="tx1"/>
              </a:solidFill>
            </a:endParaRPr>
          </a:p>
        </p:txBody>
      </p:sp>
      <p:pic>
        <p:nvPicPr>
          <p:cNvPr id="13" name="Picture 12" descr="Premium Vector | Artificial Intelligence AI icon flat vector illustration">
            <a:extLst>
              <a:ext uri="{FF2B5EF4-FFF2-40B4-BE49-F238E27FC236}">
                <a16:creationId xmlns:a16="http://schemas.microsoft.com/office/drawing/2014/main" id="{3CB12BBE-DA9D-7B03-8188-980FF53361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8548" y="4434799"/>
            <a:ext cx="373744" cy="368744"/>
          </a:xfrm>
          <a:prstGeom prst="rect">
            <a:avLst/>
          </a:prstGeom>
        </p:spPr>
      </p:pic>
      <p:sp>
        <p:nvSpPr>
          <p:cNvPr id="14" name="Arrow: Right 13">
            <a:extLst>
              <a:ext uri="{FF2B5EF4-FFF2-40B4-BE49-F238E27FC236}">
                <a16:creationId xmlns:a16="http://schemas.microsoft.com/office/drawing/2014/main" id="{7BA23FD4-64F4-0BF7-1E3E-77E2493ACCA2}"/>
              </a:ext>
            </a:extLst>
          </p:cNvPr>
          <p:cNvSpPr/>
          <p:nvPr/>
        </p:nvSpPr>
        <p:spPr>
          <a:xfrm>
            <a:off x="2107134" y="3174999"/>
            <a:ext cx="489857" cy="29028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1D148705-5F97-1B47-0C3E-9E216C822120}"/>
              </a:ext>
            </a:extLst>
          </p:cNvPr>
          <p:cNvSpPr/>
          <p:nvPr/>
        </p:nvSpPr>
        <p:spPr>
          <a:xfrm>
            <a:off x="2107134" y="4659084"/>
            <a:ext cx="489857" cy="29028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6766EAA-50A5-CAEB-B1F3-E4CEE75C9E79}"/>
              </a:ext>
            </a:extLst>
          </p:cNvPr>
          <p:cNvSpPr/>
          <p:nvPr/>
        </p:nvSpPr>
        <p:spPr>
          <a:xfrm>
            <a:off x="8508685" y="4118701"/>
            <a:ext cx="1489363" cy="102177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Loan</a:t>
            </a:r>
          </a:p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software</a:t>
            </a:r>
          </a:p>
        </p:txBody>
      </p:sp>
      <p:pic>
        <p:nvPicPr>
          <p:cNvPr id="22" name="Picture 21" descr="Premium Vector | Artificial Intelligence AI icon flat vector illustration">
            <a:extLst>
              <a:ext uri="{FF2B5EF4-FFF2-40B4-BE49-F238E27FC236}">
                <a16:creationId xmlns:a16="http://schemas.microsoft.com/office/drawing/2014/main" id="{A63AE4BA-2B85-12EC-D07F-296C054952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6903" y="4150780"/>
            <a:ext cx="373744" cy="368744"/>
          </a:xfrm>
          <a:prstGeom prst="rect">
            <a:avLst/>
          </a:prstGeom>
        </p:spPr>
      </p:pic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EB79315-9CD5-0442-0B9B-1F1DAA5595CA}"/>
              </a:ext>
            </a:extLst>
          </p:cNvPr>
          <p:cNvSpPr/>
          <p:nvPr/>
        </p:nvSpPr>
        <p:spPr>
          <a:xfrm>
            <a:off x="8515612" y="5358682"/>
            <a:ext cx="1489363" cy="102177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Loan</a:t>
            </a:r>
          </a:p>
          <a:p>
            <a:pPr algn="ctr"/>
            <a:r>
              <a:rPr lang="en-US">
                <a:solidFill>
                  <a:schemeClr val="tx1"/>
                </a:solidFill>
                <a:ea typeface="Calibri"/>
                <a:cs typeface="Calibri"/>
              </a:rPr>
              <a:t>software</a:t>
            </a:r>
          </a:p>
        </p:txBody>
      </p:sp>
      <p:pic>
        <p:nvPicPr>
          <p:cNvPr id="24" name="Picture 23" descr="Premium Vector | Artificial Intelligence AI icon flat vector illustration">
            <a:extLst>
              <a:ext uri="{FF2B5EF4-FFF2-40B4-BE49-F238E27FC236}">
                <a16:creationId xmlns:a16="http://schemas.microsoft.com/office/drawing/2014/main" id="{215DD9F7-3DC9-BE87-A4CA-0427041862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3830" y="5390761"/>
            <a:ext cx="373744" cy="368744"/>
          </a:xfrm>
          <a:prstGeom prst="rect">
            <a:avLst/>
          </a:prstGeom>
        </p:spPr>
      </p:pic>
      <p:sp>
        <p:nvSpPr>
          <p:cNvPr id="25" name="Arrow: Right 24">
            <a:extLst>
              <a:ext uri="{FF2B5EF4-FFF2-40B4-BE49-F238E27FC236}">
                <a16:creationId xmlns:a16="http://schemas.microsoft.com/office/drawing/2014/main" id="{621DFD19-368A-3058-EC08-A0C3CFF39B9F}"/>
              </a:ext>
            </a:extLst>
          </p:cNvPr>
          <p:cNvSpPr/>
          <p:nvPr/>
        </p:nvSpPr>
        <p:spPr>
          <a:xfrm>
            <a:off x="7788452" y="4387271"/>
            <a:ext cx="489857" cy="29028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C8091785-B313-5A56-E9EA-0B01DBC7DA52}"/>
              </a:ext>
            </a:extLst>
          </p:cNvPr>
          <p:cNvSpPr/>
          <p:nvPr/>
        </p:nvSpPr>
        <p:spPr>
          <a:xfrm>
            <a:off x="7906216" y="5698174"/>
            <a:ext cx="489857" cy="290285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DD3862C4-12EC-EC23-B8F7-D6CB9E99F638}"/>
              </a:ext>
            </a:extLst>
          </p:cNvPr>
          <p:cNvSpPr/>
          <p:nvPr/>
        </p:nvSpPr>
        <p:spPr>
          <a:xfrm>
            <a:off x="5782963" y="4118112"/>
            <a:ext cx="1166648" cy="26479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Aptos Light" panose="020B0004020202020204" pitchFamily="34" charset="0"/>
              </a:rPr>
              <a:t>$150,000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A554197E-65BB-B79F-6154-2BA415576300}"/>
              </a:ext>
            </a:extLst>
          </p:cNvPr>
          <p:cNvSpPr/>
          <p:nvPr/>
        </p:nvSpPr>
        <p:spPr>
          <a:xfrm>
            <a:off x="5819956" y="5226284"/>
            <a:ext cx="1166648" cy="26479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>
                <a:latin typeface="Aptos Light" panose="020B0004020202020204" pitchFamily="34" charset="0"/>
              </a:rPr>
              <a:t>$150,000</a:t>
            </a:r>
          </a:p>
        </p:txBody>
      </p:sp>
      <p:sp>
        <p:nvSpPr>
          <p:cNvPr id="30" name="Slide Number Placeholder 29">
            <a:extLst>
              <a:ext uri="{FF2B5EF4-FFF2-40B4-BE49-F238E27FC236}">
                <a16:creationId xmlns:a16="http://schemas.microsoft.com/office/drawing/2014/main" id="{A0943358-E253-F5F9-65FE-BAB34F8B5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6</a:t>
            </a:fld>
            <a:endParaRPr lang="en-US"/>
          </a:p>
        </p:txBody>
      </p:sp>
      <p:pic>
        <p:nvPicPr>
          <p:cNvPr id="7" name="Graphic 6" descr="Angel face with solid fill with solid fill">
            <a:extLst>
              <a:ext uri="{FF2B5EF4-FFF2-40B4-BE49-F238E27FC236}">
                <a16:creationId xmlns:a16="http://schemas.microsoft.com/office/drawing/2014/main" id="{14BD5D1A-CF1F-8AEC-2646-8FD366411E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07039" y="4418833"/>
            <a:ext cx="530536" cy="530536"/>
          </a:xfrm>
          <a:prstGeom prst="rect">
            <a:avLst/>
          </a:prstGeom>
        </p:spPr>
      </p:pic>
      <p:pic>
        <p:nvPicPr>
          <p:cNvPr id="9" name="Graphic 8" descr="Angel face with solid fill with solid fill">
            <a:extLst>
              <a:ext uri="{FF2B5EF4-FFF2-40B4-BE49-F238E27FC236}">
                <a16:creationId xmlns:a16="http://schemas.microsoft.com/office/drawing/2014/main" id="{899EE981-E8F3-FB2A-CCD1-EDC6F8C75A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66787" y="5786719"/>
            <a:ext cx="530536" cy="53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151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4" grpId="0" animBg="1"/>
      <p:bldP spid="15" grpId="0" animBg="1"/>
      <p:bldP spid="18" grpId="0" animBg="1"/>
      <p:bldP spid="23" grpId="0" animBg="1"/>
      <p:bldP spid="25" grpId="0" animBg="1"/>
      <p:bldP spid="26" grpId="0" animBg="1"/>
      <p:bldP spid="27" grpId="0" animBg="1"/>
      <p:bldP spid="2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2952FF-3B9B-8409-0381-0B3C0BC7A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1">
            <a:extLst>
              <a:ext uri="{FF2B5EF4-FFF2-40B4-BE49-F238E27FC236}">
                <a16:creationId xmlns:a16="http://schemas.microsoft.com/office/drawing/2014/main" id="{AA9AA8E6-FD1D-719F-C644-0D94078E07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algn="ctr">
              <a:defRPr/>
            </a:pPr>
            <a:endParaRPr lang="en-US">
              <a:solidFill>
                <a:prstClr val="white"/>
              </a:solidFill>
              <a:latin typeface="Calibri" panose="020F0502020204030204"/>
              <a:ea typeface="Calibri"/>
              <a:cs typeface="Calibri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F37EAAB-8FFB-DA0D-0770-8805C20BD02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1803117" cy="13124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  <a:defRPr/>
            </a:pPr>
            <a:r>
              <a:rPr lang="en-US" sz="7200" b="1">
                <a:solidFill>
                  <a:prstClr val="black"/>
                </a:solidFill>
                <a:latin typeface="MRF LEMONBERRY SANS"/>
              </a:rPr>
              <a:t>Discrimination testing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877D247A-0E9B-EF0D-B499-04A58ADB9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304BBE65-59B9-C24E-020D-68048B00EB77}"/>
              </a:ext>
            </a:extLst>
          </p:cNvPr>
          <p:cNvSpPr txBox="1">
            <a:spLocks/>
          </p:cNvSpPr>
          <p:nvPr/>
        </p:nvSpPr>
        <p:spPr>
          <a:xfrm>
            <a:off x="836676" y="2111521"/>
            <a:ext cx="8914292" cy="42519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lang="en-US" sz="2600" spc="-45" dirty="0">
                <a:solidFill>
                  <a:schemeClr val="tx1"/>
                </a:solidFill>
                <a:latin typeface="Aptos Light"/>
                <a:cs typeface="Arial Narrow"/>
              </a:rPr>
              <a:t>Discrimination testing helps answer the question</a:t>
            </a:r>
            <a:endParaRPr lang="en-US" sz="2600" dirty="0">
              <a:solidFill>
                <a:schemeClr val="tx1"/>
              </a:solidFill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lang="en-US" sz="2600" b="1" i="1" spc="-45" dirty="0">
                <a:solidFill>
                  <a:schemeClr val="tx1"/>
                </a:solidFill>
                <a:latin typeface="Aptos Light"/>
                <a:cs typeface="Arial Narrow"/>
              </a:rPr>
              <a:t>Does changing attribute X change system behavior?</a:t>
            </a: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endParaRPr lang="en-US" sz="2600" b="1" i="1" spc="-45" dirty="0">
              <a:solidFill>
                <a:schemeClr val="tx1"/>
              </a:solidFill>
              <a:latin typeface="Aptos Light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lang="en-US" sz="2600" spc="-45" dirty="0">
                <a:solidFill>
                  <a:schemeClr val="tx1"/>
                </a:solidFill>
                <a:latin typeface="Aptos Light"/>
                <a:cs typeface="Arial Narrow"/>
              </a:rPr>
              <a:t>As such,</a:t>
            </a:r>
            <a:r>
              <a:rPr lang="en-US" sz="2600" b="1" i="1" spc="-45" dirty="0">
                <a:solidFill>
                  <a:schemeClr val="tx1"/>
                </a:solidFill>
                <a:latin typeface="Aptos Light"/>
                <a:cs typeface="Arial Narrow"/>
              </a:rPr>
              <a:t> </a:t>
            </a:r>
            <a:r>
              <a:rPr lang="en-US" sz="2600" b="1" spc="-45" dirty="0">
                <a:solidFill>
                  <a:schemeClr val="tx1"/>
                </a:solidFill>
                <a:latin typeface="Aptos Light"/>
                <a:cs typeface="Arial Narrow"/>
              </a:rPr>
              <a:t>discrimination testing is not always fairness testing.</a:t>
            </a: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endParaRPr lang="en-US" sz="2600" spc="-45" dirty="0">
              <a:solidFill>
                <a:schemeClr val="tx1"/>
              </a:solidFill>
              <a:latin typeface="Aptos Light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lang="en-US" sz="2600" spc="-45" dirty="0">
                <a:solidFill>
                  <a:schemeClr val="tx1"/>
                </a:solidFill>
                <a:latin typeface="Aptos Light"/>
                <a:cs typeface="Arial Narrow"/>
              </a:rPr>
              <a:t>In fairness testing, attribute X is a protected attribute (e.g., race).</a:t>
            </a: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lang="en-US" sz="2600" spc="-45" dirty="0">
                <a:solidFill>
                  <a:schemeClr val="tx1"/>
                </a:solidFill>
                <a:latin typeface="Aptos Light"/>
                <a:cs typeface="Arial Narrow"/>
              </a:rPr>
              <a:t>But </a:t>
            </a:r>
            <a:r>
              <a:rPr lang="en-US" sz="2600" b="1" spc="-45" dirty="0">
                <a:solidFill>
                  <a:schemeClr val="tx1"/>
                </a:solidFill>
                <a:latin typeface="Aptos Light"/>
                <a:cs typeface="Arial Narrow"/>
              </a:rPr>
              <a:t>attribute X could be anything.</a:t>
            </a:r>
          </a:p>
        </p:txBody>
      </p:sp>
      <p:pic>
        <p:nvPicPr>
          <p:cNvPr id="7" name="Picture 6" descr="Software Developer Clip Art">
            <a:extLst>
              <a:ext uri="{FF2B5EF4-FFF2-40B4-BE49-F238E27FC236}">
                <a16:creationId xmlns:a16="http://schemas.microsoft.com/office/drawing/2014/main" id="{4F880D4C-D739-ED8C-71C0-943E884F8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7420" y="3623560"/>
            <a:ext cx="3289141" cy="323444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AAB5154-7011-0213-7CBA-FB734C6A0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866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INTRODUCTION · WORKFLOW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3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Automated Discriminatory Test Generation Works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170432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decision-making program to a measured discrimination score, in five steps.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9808" y="169164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A45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69264" y="1892808"/>
            <a:ext cx="457200" cy="457200"/>
          </a:xfrm>
          <a:prstGeom prst="ellipse">
            <a:avLst/>
          </a:prstGeom>
          <a:solidFill>
            <a:srgbClr val="1E2A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build/icons/search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199339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401568" y="1874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8DC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69264" y="2441448"/>
            <a:ext cx="2852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 Attributes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69264" y="2752344"/>
            <a:ext cx="2852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protected attributes and their values in the program under test.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498848" y="169164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A45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718304" y="1892808"/>
            <a:ext cx="457200" cy="457200"/>
          </a:xfrm>
          <a:prstGeom prst="ellipse">
            <a:avLst/>
          </a:prstGeom>
          <a:solidFill>
            <a:srgbClr val="1E2A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/home/claude/build/icons/clipboard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1993392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50608" y="1874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8DC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718304" y="2441448"/>
            <a:ext cx="2852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Attribute Values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4718304" y="2752344"/>
            <a:ext cx="2852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attribute value combinations in a parameter file (ACTS_param).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8247888" y="169164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A45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8467344" y="1892808"/>
            <a:ext cx="457200" cy="457200"/>
          </a:xfrm>
          <a:prstGeom prst="ellipse">
            <a:avLst/>
          </a:prstGeom>
          <a:solidFill>
            <a:srgbClr val="1E2A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/home/claude/build/icons/flask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7928" y="1993392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899648" y="18745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8DC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8467344" y="2441448"/>
            <a:ext cx="2852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Test Cases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8467344" y="2752344"/>
            <a:ext cx="2852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protected attribute values into test cases (t-way); non-protected fields stay fixed.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096512" y="2468880"/>
            <a:ext cx="347472" cy="0"/>
          </a:xfrm>
          <a:prstGeom prst="line">
            <a:avLst/>
          </a:prstGeom>
          <a:noFill/>
          <a:ln w="19050">
            <a:solidFill>
              <a:srgbClr val="B9C0C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7845552" y="2468880"/>
            <a:ext cx="347472" cy="0"/>
          </a:xfrm>
          <a:prstGeom prst="line">
            <a:avLst/>
          </a:prstGeom>
          <a:noFill/>
          <a:ln w="19050">
            <a:solidFill>
              <a:srgbClr val="B9C0C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0"/>
          <p:cNvSpPr/>
          <p:nvPr/>
        </p:nvSpPr>
        <p:spPr>
          <a:xfrm>
            <a:off x="749808" y="3502152"/>
            <a:ext cx="6949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COMBINATORIAL Tests (2-way)</a:t>
            </a:r>
            <a:endParaRPr lang="en-US" sz="10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/>
        </p:nvGraphicFramePr>
        <p:xfrm>
          <a:off x="749808" y="3776472"/>
          <a:ext cx="6858000" cy="123444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Race*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95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Gender*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95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1E2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 History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7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2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23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" marR="12700" marT="12700" marB="12700" anchor="ctr">
                    <a:lnL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Text 21"/>
          <p:cNvSpPr/>
          <p:nvPr/>
        </p:nvSpPr>
        <p:spPr>
          <a:xfrm>
            <a:off x="749808" y="5065776"/>
            <a:ext cx="6858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R1/R2 and G1/G2 represent different values of two protected attributes (e.g., race, gender) — every other field stays fixed.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9893808" y="3291840"/>
            <a:ext cx="0" cy="182880"/>
          </a:xfrm>
          <a:prstGeom prst="line">
            <a:avLst/>
          </a:prstGeom>
          <a:noFill/>
          <a:ln w="19050">
            <a:solidFill>
              <a:srgbClr val="B9C0C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7973568" y="3520440"/>
            <a:ext cx="38404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1E2A45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4"/>
          <p:cNvSpPr/>
          <p:nvPr/>
        </p:nvSpPr>
        <p:spPr>
          <a:xfrm>
            <a:off x="8193024" y="3721608"/>
            <a:ext cx="457200" cy="457200"/>
          </a:xfrm>
          <a:prstGeom prst="ellipse">
            <a:avLst/>
          </a:prstGeom>
          <a:solidFill>
            <a:srgbClr val="1E2A4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3" descr="/home/claude/build/icons/chart_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3608" y="3822192"/>
            <a:ext cx="256032" cy="25603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1173968" y="370332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D8DC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33" name="Text 26"/>
          <p:cNvSpPr/>
          <p:nvPr/>
        </p:nvSpPr>
        <p:spPr>
          <a:xfrm>
            <a:off x="8193024" y="4270248"/>
            <a:ext cx="3401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32B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Outcomes</a:t>
            </a:r>
            <a:endParaRPr lang="en-US" sz="1350" dirty="0"/>
          </a:p>
        </p:txBody>
      </p:sp>
      <p:sp>
        <p:nvSpPr>
          <p:cNvPr id="34" name="Text 27"/>
          <p:cNvSpPr/>
          <p:nvPr/>
        </p:nvSpPr>
        <p:spPr>
          <a:xfrm>
            <a:off x="8193024" y="4581144"/>
            <a:ext cx="3401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6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decisions across demographic groups for each test case.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9893808" y="5120640"/>
            <a:ext cx="0" cy="182880"/>
          </a:xfrm>
          <a:prstGeom prst="line">
            <a:avLst/>
          </a:prstGeom>
          <a:noFill/>
          <a:ln w="19050">
            <a:solidFill>
              <a:srgbClr val="B9C0CC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29"/>
          <p:cNvSpPr/>
          <p:nvPr/>
        </p:nvSpPr>
        <p:spPr>
          <a:xfrm>
            <a:off x="749808" y="5349240"/>
            <a:ext cx="10789920" cy="1188720"/>
          </a:xfrm>
          <a:prstGeom prst="roundRect">
            <a:avLst>
              <a:gd name="adj" fmla="val 6923"/>
            </a:avLst>
          </a:prstGeom>
          <a:solidFill>
            <a:srgbClr val="1E2A45"/>
          </a:solidFill>
          <a:ln/>
          <a:effectLst>
            <a:outerShdw blurRad="152400" dist="50800" dir="5400000" algn="bl" rotWithShape="0">
              <a:srgbClr val="1E2A45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0"/>
          <p:cNvSpPr/>
          <p:nvPr/>
        </p:nvSpPr>
        <p:spPr>
          <a:xfrm>
            <a:off x="1115568" y="54772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89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RESULT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1069848" y="5769864"/>
            <a:ext cx="313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APPROVAL RATE</a:t>
            </a:r>
            <a:endParaRPr lang="en-US" sz="950" dirty="0"/>
          </a:p>
        </p:txBody>
      </p:sp>
      <p:sp>
        <p:nvSpPr>
          <p:cNvPr id="39" name="Text 32"/>
          <p:cNvSpPr/>
          <p:nvPr/>
        </p:nvSpPr>
        <p:spPr>
          <a:xfrm>
            <a:off x="1069848" y="6007608"/>
            <a:ext cx="313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x%</a:t>
            </a:r>
            <a:endParaRPr lang="en-US" sz="2200" dirty="0"/>
          </a:p>
        </p:txBody>
      </p:sp>
      <p:sp>
        <p:nvSpPr>
          <p:cNvPr id="40" name="Shape 33"/>
          <p:cNvSpPr/>
          <p:nvPr/>
        </p:nvSpPr>
        <p:spPr>
          <a:xfrm>
            <a:off x="4346448" y="5760720"/>
            <a:ext cx="0" cy="594360"/>
          </a:xfrm>
          <a:prstGeom prst="line">
            <a:avLst/>
          </a:prstGeom>
          <a:noFill/>
          <a:ln w="12700">
            <a:solidFill>
              <a:srgbClr val="3A4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4"/>
          <p:cNvSpPr/>
          <p:nvPr/>
        </p:nvSpPr>
        <p:spPr>
          <a:xfrm>
            <a:off x="4666488" y="5769864"/>
            <a:ext cx="313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 APPROVAL RATE</a:t>
            </a:r>
            <a:endParaRPr lang="en-US" sz="950" dirty="0"/>
          </a:p>
        </p:txBody>
      </p:sp>
      <p:sp>
        <p:nvSpPr>
          <p:cNvPr id="42" name="Text 35"/>
          <p:cNvSpPr/>
          <p:nvPr/>
        </p:nvSpPr>
        <p:spPr>
          <a:xfrm>
            <a:off x="4666488" y="6007608"/>
            <a:ext cx="313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y%</a:t>
            </a:r>
            <a:endParaRPr lang="en-US" sz="2200" dirty="0"/>
          </a:p>
        </p:txBody>
      </p:sp>
      <p:sp>
        <p:nvSpPr>
          <p:cNvPr id="43" name="Shape 36"/>
          <p:cNvSpPr/>
          <p:nvPr/>
        </p:nvSpPr>
        <p:spPr>
          <a:xfrm>
            <a:off x="7943088" y="5760720"/>
            <a:ext cx="0" cy="594360"/>
          </a:xfrm>
          <a:prstGeom prst="line">
            <a:avLst/>
          </a:prstGeom>
          <a:noFill/>
          <a:ln w="12700">
            <a:solidFill>
              <a:srgbClr val="3A4A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7"/>
          <p:cNvSpPr/>
          <p:nvPr/>
        </p:nvSpPr>
        <p:spPr>
          <a:xfrm>
            <a:off x="8263128" y="5769864"/>
            <a:ext cx="3139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DISCRIMINATION</a:t>
            </a:r>
            <a:endParaRPr lang="en-US" sz="950" dirty="0"/>
          </a:p>
        </p:txBody>
      </p:sp>
      <p:sp>
        <p:nvSpPr>
          <p:cNvPr id="45" name="Text 38"/>
          <p:cNvSpPr/>
          <p:nvPr/>
        </p:nvSpPr>
        <p:spPr>
          <a:xfrm>
            <a:off x="8263128" y="6007608"/>
            <a:ext cx="3139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95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− y%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BF89D7-217B-24B7-3536-D22393839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1">
            <a:extLst>
              <a:ext uri="{FF2B5EF4-FFF2-40B4-BE49-F238E27FC236}">
                <a16:creationId xmlns:a16="http://schemas.microsoft.com/office/drawing/2014/main" id="{ED06A42E-D8B5-01B3-6C3E-C25D38D97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08FBAE6-4E38-C8A9-EF58-BA2EB2D374F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1803117" cy="13124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  <a:defRPr/>
            </a:pPr>
            <a:r>
              <a:rPr lang="en-US" sz="7200" b="1">
                <a:solidFill>
                  <a:prstClr val="black"/>
                </a:solidFill>
                <a:latin typeface="MRF LEMONBERRY SANS"/>
              </a:rPr>
              <a:t>Today's exercise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CE51B3DA-7D31-549B-9987-31E11DF002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C4C8721-2D23-03C5-A910-848DC96288D4}"/>
              </a:ext>
            </a:extLst>
          </p:cNvPr>
          <p:cNvSpPr txBox="1">
            <a:spLocks/>
          </p:cNvSpPr>
          <p:nvPr/>
        </p:nvSpPr>
        <p:spPr>
          <a:xfrm>
            <a:off x="857457" y="1960915"/>
            <a:ext cx="8808289" cy="42519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lang="en-US" sz="2800" spc="-45" dirty="0">
                <a:solidFill>
                  <a:schemeClr val="tx1"/>
                </a:solidFill>
                <a:latin typeface="Aptos Light"/>
              </a:rPr>
              <a:t>Testing software for </a:t>
            </a:r>
            <a:r>
              <a:rPr lang="en-US" sz="2800" b="1" spc="-45" dirty="0">
                <a:solidFill>
                  <a:schemeClr val="tx1"/>
                </a:solidFill>
                <a:latin typeface="Aptos Light"/>
              </a:rPr>
              <a:t>fairness-related discrimination</a:t>
            </a: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endParaRPr lang="en-US" sz="2800" spc="-45" dirty="0">
              <a:solidFill>
                <a:schemeClr val="tx1"/>
              </a:solidFill>
              <a:latin typeface="Aptos Light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lang="en-US" sz="2800" b="1" spc="-45" dirty="0">
                <a:solidFill>
                  <a:schemeClr val="tx1"/>
                </a:solidFill>
                <a:latin typeface="Aptos Light"/>
              </a:rPr>
              <a:t>     Rule-based Software                        Data-driven Software  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83477D-C2F6-935A-9617-59BEC9163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B191CF-C307-FB0D-7493-8A3F9143D2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40" t="1438" r="-158"/>
          <a:stretch>
            <a:fillRect/>
          </a:stretch>
        </p:blipFill>
        <p:spPr>
          <a:xfrm>
            <a:off x="888954" y="3704078"/>
            <a:ext cx="3814415" cy="19666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ED42CDB-BC03-43DB-BC27-56117D3E8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0831" y="3701328"/>
            <a:ext cx="4524375" cy="2295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 descr="Software Developer Clip Art">
            <a:extLst>
              <a:ext uri="{FF2B5EF4-FFF2-40B4-BE49-F238E27FC236}">
                <a16:creationId xmlns:a16="http://schemas.microsoft.com/office/drawing/2014/main" id="{E0B89E9A-379A-9626-CDF0-B5DBEE0AAE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420" y="3623560"/>
            <a:ext cx="3289141" cy="3234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597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58FA69-199D-04C1-9A36-1F443E6A3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1">
            <a:extLst>
              <a:ext uri="{FF2B5EF4-FFF2-40B4-BE49-F238E27FC236}">
                <a16:creationId xmlns:a16="http://schemas.microsoft.com/office/drawing/2014/main" id="{ED0FE425-5368-7E0E-52D9-893B00DD5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3F7BEC6-6B97-BD3B-DA43-D916780E7FF9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1803117" cy="13124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  <a:defRPr/>
            </a:pPr>
            <a:r>
              <a:rPr lang="en-US" sz="7200" b="1">
                <a:solidFill>
                  <a:prstClr val="black"/>
                </a:solidFill>
                <a:latin typeface="MRF LEMONBERRY SANS"/>
              </a:rPr>
              <a:t>Today's exercise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457438E1-CFE5-E581-69CB-5B3D6F4E1F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0CB3DC19-6533-8C30-1AFB-959623FA9BE3}"/>
              </a:ext>
            </a:extLst>
          </p:cNvPr>
          <p:cNvSpPr txBox="1">
            <a:spLocks/>
          </p:cNvSpPr>
          <p:nvPr/>
        </p:nvSpPr>
        <p:spPr>
          <a:xfrm>
            <a:off x="836676" y="1960915"/>
            <a:ext cx="8371870" cy="42519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lang="en-US" sz="2800" spc="-45" dirty="0">
                <a:solidFill>
                  <a:schemeClr val="tx1"/>
                </a:solidFill>
                <a:latin typeface="Aptos Light"/>
              </a:rPr>
              <a:t>Testing software for </a:t>
            </a:r>
            <a:r>
              <a:rPr lang="en-US" sz="2800" b="1" spc="-45" dirty="0">
                <a:solidFill>
                  <a:schemeClr val="tx1"/>
                </a:solidFill>
                <a:latin typeface="Aptos Light"/>
              </a:rPr>
              <a:t>fairness-related discrimination</a:t>
            </a: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endParaRPr lang="en-US" sz="2800" spc="-45" dirty="0">
              <a:solidFill>
                <a:schemeClr val="tx1"/>
              </a:solidFill>
              <a:latin typeface="Aptos Light" panose="020B0004020202020204" pitchFamily="34" charset="0"/>
              <a:cs typeface="Arial Narrow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lang="en-US" sz="2800" spc="-45" dirty="0">
                <a:solidFill>
                  <a:schemeClr val="tx1"/>
                </a:solidFill>
                <a:latin typeface="Aptos Light"/>
                <a:cs typeface="Arial Narrow"/>
              </a:rPr>
              <a:t>Think about:</a:t>
            </a:r>
          </a:p>
          <a:p>
            <a:pPr marL="469900" indent="-457200">
              <a:lnSpc>
                <a:spcPct val="100000"/>
              </a:lnSpc>
              <a:spcBef>
                <a:spcPts val="925"/>
              </a:spcBef>
              <a:buFont typeface="Calibri" panose="020B0604020202020204" pitchFamily="34" charset="0"/>
              <a:buChar char="-"/>
            </a:pPr>
            <a:r>
              <a:rPr lang="en-US" sz="2400" i="1" spc="-45" dirty="0">
                <a:solidFill>
                  <a:schemeClr val="tx1"/>
                </a:solidFill>
                <a:latin typeface="Aptos Light"/>
                <a:cs typeface="Arial Narrow"/>
              </a:rPr>
              <a:t>How can we use existing tools and SE skills to support this form of testing?</a:t>
            </a:r>
          </a:p>
          <a:p>
            <a:pPr marL="469900" indent="-457200">
              <a:lnSpc>
                <a:spcPct val="100000"/>
              </a:lnSpc>
              <a:spcBef>
                <a:spcPts val="925"/>
              </a:spcBef>
              <a:buFont typeface="Calibri" panose="020B0604020202020204" pitchFamily="34" charset="0"/>
              <a:buChar char="-"/>
            </a:pPr>
            <a:r>
              <a:rPr lang="en-US" sz="2400" i="1" spc="-45" dirty="0">
                <a:solidFill>
                  <a:schemeClr val="tx1"/>
                </a:solidFill>
                <a:latin typeface="Aptos Light"/>
                <a:cs typeface="Arial Narrow"/>
              </a:rPr>
              <a:t>What additional support or knowledge is needed to support (and teach about) this kind of testing in practice?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7E94BB-9AB9-6ADA-E083-52765A57D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 descr="Software Developer Clip Art">
            <a:extLst>
              <a:ext uri="{FF2B5EF4-FFF2-40B4-BE49-F238E27FC236}">
                <a16:creationId xmlns:a16="http://schemas.microsoft.com/office/drawing/2014/main" id="{669EFD49-BCC5-B34F-6DA6-A9DE770405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7420" y="3623560"/>
            <a:ext cx="3289141" cy="3234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127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FD560C-1074-6615-4300-C8E96FAB7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1">
            <a:extLst>
              <a:ext uri="{FF2B5EF4-FFF2-40B4-BE49-F238E27FC236}">
                <a16:creationId xmlns:a16="http://schemas.microsoft.com/office/drawing/2014/main" id="{6AE3FDD9-F951-3A02-328B-23AD3B063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0FEF7F1-1774-B582-2F16-D4CF4A83D37D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1803117" cy="13124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  <a:defRPr/>
            </a:pPr>
            <a:r>
              <a:rPr lang="en-US" sz="7200" b="1">
                <a:solidFill>
                  <a:prstClr val="black"/>
                </a:solidFill>
                <a:latin typeface="MRF LEMONBERRY SANS"/>
              </a:rPr>
              <a:t>Extra Credit Opportunity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5266008A-9EDF-5882-22EE-81602E7AA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272934F3-9C9C-8651-A9FA-7F6BED81C49E}"/>
              </a:ext>
            </a:extLst>
          </p:cNvPr>
          <p:cNvSpPr txBox="1">
            <a:spLocks/>
          </p:cNvSpPr>
          <p:nvPr/>
        </p:nvSpPr>
        <p:spPr>
          <a:xfrm>
            <a:off x="836676" y="1960915"/>
            <a:ext cx="10853928" cy="42519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lang="en-US" sz="2800" spc="-45" dirty="0">
                <a:solidFill>
                  <a:schemeClr val="tx1"/>
                </a:solidFill>
                <a:latin typeface="Aptos Light"/>
              </a:rPr>
              <a:t>Consent to use of your exercise responses</a:t>
            </a:r>
            <a:endParaRPr lang="en-US" dirty="0">
              <a:solidFill>
                <a:schemeClr val="tx1"/>
              </a:solidFill>
              <a:ea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endParaRPr lang="en-US" sz="2800" spc="-45" dirty="0">
              <a:solidFill>
                <a:schemeClr val="tx1"/>
              </a:solidFill>
              <a:latin typeface="Aptos Light"/>
            </a:endParaRPr>
          </a:p>
          <a:p>
            <a:pPr algn="ctr"/>
            <a:endParaRPr lang="en-US" sz="2400" spc="-45" dirty="0">
              <a:solidFill>
                <a:schemeClr val="tx1"/>
              </a:solidFill>
              <a:highlight>
                <a:srgbClr val="FFFFFF"/>
              </a:highlight>
              <a:latin typeface="Calibri Light"/>
              <a:ea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endParaRPr lang="en-US" sz="2800" spc="-45" dirty="0">
              <a:solidFill>
                <a:schemeClr val="tx1"/>
              </a:solidFill>
              <a:latin typeface="Aptos Light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lang="en-US" sz="2800" spc="-45" dirty="0">
                <a:solidFill>
                  <a:schemeClr val="tx1"/>
                </a:solidFill>
                <a:latin typeface="Aptos Light"/>
              </a:rPr>
              <a:t>Extra credit on final project (individual, not group)</a:t>
            </a:r>
            <a:endParaRPr lang="en-US" dirty="0">
              <a:solidFill>
                <a:schemeClr val="tx1"/>
              </a:solidFill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endParaRPr lang="en-US" sz="2800" spc="-45" dirty="0">
              <a:solidFill>
                <a:schemeClr val="tx1"/>
              </a:solidFill>
              <a:latin typeface="Aptos Light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endParaRPr lang="en-US" sz="2800" spc="-45" dirty="0">
              <a:solidFill>
                <a:schemeClr val="tx1"/>
              </a:solidFill>
              <a:latin typeface="Aptos Light"/>
            </a:endParaRPr>
          </a:p>
        </p:txBody>
      </p:sp>
      <p:sp>
        <p:nvSpPr>
          <p:cNvPr id="2" name="object 6">
            <a:extLst>
              <a:ext uri="{FF2B5EF4-FFF2-40B4-BE49-F238E27FC236}">
                <a16:creationId xmlns:a16="http://schemas.microsoft.com/office/drawing/2014/main" id="{72746E88-5ADE-37AD-4AC6-6FE179E55C87}"/>
              </a:ext>
            </a:extLst>
          </p:cNvPr>
          <p:cNvSpPr txBox="1"/>
          <p:nvPr/>
        </p:nvSpPr>
        <p:spPr>
          <a:xfrm>
            <a:off x="836676" y="6559260"/>
            <a:ext cx="9559437" cy="203261"/>
          </a:xfrm>
          <a:prstGeom prst="rect">
            <a:avLst/>
          </a:prstGeom>
        </p:spPr>
        <p:txBody>
          <a:bodyPr vert="horz" wrap="square" lIns="0" tIns="23495" rIns="0" bIns="0" rtlCol="0" anchor="t">
            <a:spAutoFit/>
          </a:bodyPr>
          <a:lstStyle/>
          <a:p>
            <a:pPr marL="12700" marR="5080">
              <a:lnSpc>
                <a:spcPts val="1390"/>
              </a:lnSpc>
              <a:spcBef>
                <a:spcPts val="185"/>
              </a:spcBef>
            </a:pPr>
            <a:r>
              <a:rPr lang="en-US" sz="1200" i="1" spc="-10">
                <a:solidFill>
                  <a:srgbClr val="222222"/>
                </a:solidFill>
                <a:latin typeface="Avenir Next Condensed"/>
              </a:rPr>
              <a:t>XXX</a:t>
            </a:r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03055F-197D-56BF-941D-665378D04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14743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730</Words>
  <Application>Microsoft Macintosh PowerPoint</Application>
  <PresentationFormat>Widescreen</PresentationFormat>
  <Paragraphs>141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Aptos Light</vt:lpstr>
      <vt:lpstr>Arial</vt:lpstr>
      <vt:lpstr>Avenir Next Condensed</vt:lpstr>
      <vt:lpstr>Calibri</vt:lpstr>
      <vt:lpstr>Calibri Light</vt:lpstr>
      <vt:lpstr>Cambria</vt:lpstr>
      <vt:lpstr>MRF LEMONBERRY SANS</vt:lpstr>
      <vt:lpstr>1_Office Theme</vt:lpstr>
      <vt:lpstr>Testing Software for Bias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Sadia Afrin</cp:lastModifiedBy>
  <cp:revision>3</cp:revision>
  <dcterms:created xsi:type="dcterms:W3CDTF">2026-09-21T16:14:18Z</dcterms:created>
  <dcterms:modified xsi:type="dcterms:W3CDTF">2026-10-17T21:17:03Z</dcterms:modified>
</cp:coreProperties>
</file>